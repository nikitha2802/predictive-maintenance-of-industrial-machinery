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72" r:id="rId8"/>
    <p:sldId id="266" r:id="rId9"/>
    <p:sldId id="265" r:id="rId10"/>
    <p:sldId id="267" r:id="rId11"/>
    <p:sldId id="268" r:id="rId12"/>
    <p:sldId id="269" r:id="rId13"/>
    <p:sldId id="270" r:id="rId14"/>
    <p:sldId id="271" r:id="rId15"/>
    <p:sldId id="261" r:id="rId16"/>
    <p:sldId id="275" r:id="rId17"/>
    <p:sldId id="262" r:id="rId18"/>
    <p:sldId id="273" r:id="rId19"/>
    <p:sldId id="274" r:id="rId20"/>
    <p:sldId id="26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330" y="2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F409D-9AA9-1A30-9CFC-9123D49138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E262BB2-6B81-6DC3-8B34-92A8F409A5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47DCE46-797B-A920-CD11-894E3CCCB543}"/>
              </a:ext>
            </a:extLst>
          </p:cNvPr>
          <p:cNvSpPr>
            <a:spLocks noGrp="1"/>
          </p:cNvSpPr>
          <p:nvPr>
            <p:ph type="dt" sz="half" idx="10"/>
          </p:nvPr>
        </p:nvSpPr>
        <p:spPr/>
        <p:txBody>
          <a:bodyPr/>
          <a:lstStyle/>
          <a:p>
            <a:fld id="{CEE5C50A-5A41-4FD6-871D-4494653C079F}" type="datetimeFigureOut">
              <a:rPr lang="en-IN" smtClean="0"/>
              <a:t>10-07-2026</a:t>
            </a:fld>
            <a:endParaRPr lang="en-IN"/>
          </a:p>
        </p:txBody>
      </p:sp>
      <p:sp>
        <p:nvSpPr>
          <p:cNvPr id="5" name="Footer Placeholder 4">
            <a:extLst>
              <a:ext uri="{FF2B5EF4-FFF2-40B4-BE49-F238E27FC236}">
                <a16:creationId xmlns:a16="http://schemas.microsoft.com/office/drawing/2014/main" id="{B676661C-137C-C5DB-C862-B22C40F7C8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93F104-D200-4EA3-95AA-013C36418A15}"/>
              </a:ext>
            </a:extLst>
          </p:cNvPr>
          <p:cNvSpPr>
            <a:spLocks noGrp="1"/>
          </p:cNvSpPr>
          <p:nvPr>
            <p:ph type="sldNum" sz="quarter" idx="12"/>
          </p:nvPr>
        </p:nvSpPr>
        <p:spPr/>
        <p:txBody>
          <a:bodyPr/>
          <a:lstStyle/>
          <a:p>
            <a:fld id="{10E91919-CEBF-4639-80DB-1002C00D4C49}" type="slidenum">
              <a:rPr lang="en-IN" smtClean="0"/>
              <a:t>‹#›</a:t>
            </a:fld>
            <a:endParaRPr lang="en-IN"/>
          </a:p>
        </p:txBody>
      </p:sp>
    </p:spTree>
    <p:extLst>
      <p:ext uri="{BB962C8B-B14F-4D97-AF65-F5344CB8AC3E}">
        <p14:creationId xmlns:p14="http://schemas.microsoft.com/office/powerpoint/2010/main" val="2317659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6B619-2F12-7C8E-8454-51F3AFCF89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C46561-1056-FA39-4EC7-903636CE4C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584187-19DF-560B-5C90-F661F04F7BE8}"/>
              </a:ext>
            </a:extLst>
          </p:cNvPr>
          <p:cNvSpPr>
            <a:spLocks noGrp="1"/>
          </p:cNvSpPr>
          <p:nvPr>
            <p:ph type="dt" sz="half" idx="10"/>
          </p:nvPr>
        </p:nvSpPr>
        <p:spPr/>
        <p:txBody>
          <a:bodyPr/>
          <a:lstStyle/>
          <a:p>
            <a:fld id="{CEE5C50A-5A41-4FD6-871D-4494653C079F}" type="datetimeFigureOut">
              <a:rPr lang="en-IN" smtClean="0"/>
              <a:t>10-07-2026</a:t>
            </a:fld>
            <a:endParaRPr lang="en-IN"/>
          </a:p>
        </p:txBody>
      </p:sp>
      <p:sp>
        <p:nvSpPr>
          <p:cNvPr id="5" name="Footer Placeholder 4">
            <a:extLst>
              <a:ext uri="{FF2B5EF4-FFF2-40B4-BE49-F238E27FC236}">
                <a16:creationId xmlns:a16="http://schemas.microsoft.com/office/drawing/2014/main" id="{D60794FD-C7A4-EC2C-1FE7-5246C12C8E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758F22-96FA-FC53-8AF1-374C20568627}"/>
              </a:ext>
            </a:extLst>
          </p:cNvPr>
          <p:cNvSpPr>
            <a:spLocks noGrp="1"/>
          </p:cNvSpPr>
          <p:nvPr>
            <p:ph type="sldNum" sz="quarter" idx="12"/>
          </p:nvPr>
        </p:nvSpPr>
        <p:spPr/>
        <p:txBody>
          <a:bodyPr/>
          <a:lstStyle/>
          <a:p>
            <a:fld id="{10E91919-CEBF-4639-80DB-1002C00D4C49}" type="slidenum">
              <a:rPr lang="en-IN" smtClean="0"/>
              <a:t>‹#›</a:t>
            </a:fld>
            <a:endParaRPr lang="en-IN"/>
          </a:p>
        </p:txBody>
      </p:sp>
    </p:spTree>
    <p:extLst>
      <p:ext uri="{BB962C8B-B14F-4D97-AF65-F5344CB8AC3E}">
        <p14:creationId xmlns:p14="http://schemas.microsoft.com/office/powerpoint/2010/main" val="888867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2E6CD-5AFA-7F14-1DD9-D721068AC6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F3E04BC-463E-41C3-70FB-D802AACCEE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813249-C801-5C3D-7B9B-D19445A1BD9C}"/>
              </a:ext>
            </a:extLst>
          </p:cNvPr>
          <p:cNvSpPr>
            <a:spLocks noGrp="1"/>
          </p:cNvSpPr>
          <p:nvPr>
            <p:ph type="dt" sz="half" idx="10"/>
          </p:nvPr>
        </p:nvSpPr>
        <p:spPr/>
        <p:txBody>
          <a:bodyPr/>
          <a:lstStyle/>
          <a:p>
            <a:fld id="{CEE5C50A-5A41-4FD6-871D-4494653C079F}" type="datetimeFigureOut">
              <a:rPr lang="en-IN" smtClean="0"/>
              <a:t>10-07-2026</a:t>
            </a:fld>
            <a:endParaRPr lang="en-IN"/>
          </a:p>
        </p:txBody>
      </p:sp>
      <p:sp>
        <p:nvSpPr>
          <p:cNvPr id="5" name="Footer Placeholder 4">
            <a:extLst>
              <a:ext uri="{FF2B5EF4-FFF2-40B4-BE49-F238E27FC236}">
                <a16:creationId xmlns:a16="http://schemas.microsoft.com/office/drawing/2014/main" id="{A96C02ED-83BA-2E04-F274-EC0F59D323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136FFC-E75C-98F9-90E1-2919417F5302}"/>
              </a:ext>
            </a:extLst>
          </p:cNvPr>
          <p:cNvSpPr>
            <a:spLocks noGrp="1"/>
          </p:cNvSpPr>
          <p:nvPr>
            <p:ph type="sldNum" sz="quarter" idx="12"/>
          </p:nvPr>
        </p:nvSpPr>
        <p:spPr/>
        <p:txBody>
          <a:bodyPr/>
          <a:lstStyle/>
          <a:p>
            <a:fld id="{10E91919-CEBF-4639-80DB-1002C00D4C49}" type="slidenum">
              <a:rPr lang="en-IN" smtClean="0"/>
              <a:t>‹#›</a:t>
            </a:fld>
            <a:endParaRPr lang="en-IN"/>
          </a:p>
        </p:txBody>
      </p:sp>
    </p:spTree>
    <p:extLst>
      <p:ext uri="{BB962C8B-B14F-4D97-AF65-F5344CB8AC3E}">
        <p14:creationId xmlns:p14="http://schemas.microsoft.com/office/powerpoint/2010/main" val="2903989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C8884-2A79-1953-220B-47F926CCBB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B4CF25-E8C6-68A3-BC48-F0F3592A06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34B745D-0234-1EA6-1114-F5AE97D774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C8CD15F-D385-8083-1C45-D1787EAE4DFB}"/>
              </a:ext>
            </a:extLst>
          </p:cNvPr>
          <p:cNvSpPr>
            <a:spLocks noGrp="1"/>
          </p:cNvSpPr>
          <p:nvPr>
            <p:ph type="dt" sz="half" idx="10"/>
          </p:nvPr>
        </p:nvSpPr>
        <p:spPr/>
        <p:txBody>
          <a:bodyPr/>
          <a:lstStyle/>
          <a:p>
            <a:fld id="{CEE5C50A-5A41-4FD6-871D-4494653C079F}" type="datetimeFigureOut">
              <a:rPr lang="en-IN" smtClean="0"/>
              <a:t>10-07-2026</a:t>
            </a:fld>
            <a:endParaRPr lang="en-IN"/>
          </a:p>
        </p:txBody>
      </p:sp>
      <p:sp>
        <p:nvSpPr>
          <p:cNvPr id="6" name="Footer Placeholder 5">
            <a:extLst>
              <a:ext uri="{FF2B5EF4-FFF2-40B4-BE49-F238E27FC236}">
                <a16:creationId xmlns:a16="http://schemas.microsoft.com/office/drawing/2014/main" id="{82E5D879-49D8-AA66-7F93-864194ABF1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814FCC-A401-01BF-1F38-6361EBF882C1}"/>
              </a:ext>
            </a:extLst>
          </p:cNvPr>
          <p:cNvSpPr>
            <a:spLocks noGrp="1"/>
          </p:cNvSpPr>
          <p:nvPr>
            <p:ph type="sldNum" sz="quarter" idx="12"/>
          </p:nvPr>
        </p:nvSpPr>
        <p:spPr/>
        <p:txBody>
          <a:bodyPr/>
          <a:lstStyle/>
          <a:p>
            <a:fld id="{10E91919-CEBF-4639-80DB-1002C00D4C49}" type="slidenum">
              <a:rPr lang="en-IN" smtClean="0"/>
              <a:t>‹#›</a:t>
            </a:fld>
            <a:endParaRPr lang="en-IN"/>
          </a:p>
        </p:txBody>
      </p:sp>
    </p:spTree>
    <p:extLst>
      <p:ext uri="{BB962C8B-B14F-4D97-AF65-F5344CB8AC3E}">
        <p14:creationId xmlns:p14="http://schemas.microsoft.com/office/powerpoint/2010/main" val="1172987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B5375-5FFD-B6F9-25C2-2F90E691F5E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F6515D-A759-D690-5627-5C618C88F7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9E6F29-433E-9E5F-E2DC-B2C52D562F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7448E75-50F6-2588-50CB-6971C594CB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1ED6C4-D91B-999B-6DF4-4FD7153BD4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376DC3C-E692-0D89-F6B4-B330EF41497D}"/>
              </a:ext>
            </a:extLst>
          </p:cNvPr>
          <p:cNvSpPr>
            <a:spLocks noGrp="1"/>
          </p:cNvSpPr>
          <p:nvPr>
            <p:ph type="dt" sz="half" idx="10"/>
          </p:nvPr>
        </p:nvSpPr>
        <p:spPr/>
        <p:txBody>
          <a:bodyPr/>
          <a:lstStyle/>
          <a:p>
            <a:fld id="{CEE5C50A-5A41-4FD6-871D-4494653C079F}" type="datetimeFigureOut">
              <a:rPr lang="en-IN" smtClean="0"/>
              <a:t>10-07-2026</a:t>
            </a:fld>
            <a:endParaRPr lang="en-IN"/>
          </a:p>
        </p:txBody>
      </p:sp>
      <p:sp>
        <p:nvSpPr>
          <p:cNvPr id="8" name="Footer Placeholder 7">
            <a:extLst>
              <a:ext uri="{FF2B5EF4-FFF2-40B4-BE49-F238E27FC236}">
                <a16:creationId xmlns:a16="http://schemas.microsoft.com/office/drawing/2014/main" id="{C97A4306-D566-42A8-05B2-5151A37ABC1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CA3ED4E-8338-F1B3-829C-02417F37EB27}"/>
              </a:ext>
            </a:extLst>
          </p:cNvPr>
          <p:cNvSpPr>
            <a:spLocks noGrp="1"/>
          </p:cNvSpPr>
          <p:nvPr>
            <p:ph type="sldNum" sz="quarter" idx="12"/>
          </p:nvPr>
        </p:nvSpPr>
        <p:spPr/>
        <p:txBody>
          <a:bodyPr/>
          <a:lstStyle/>
          <a:p>
            <a:fld id="{10E91919-CEBF-4639-80DB-1002C00D4C49}" type="slidenum">
              <a:rPr lang="en-IN" smtClean="0"/>
              <a:t>‹#›</a:t>
            </a:fld>
            <a:endParaRPr lang="en-IN"/>
          </a:p>
        </p:txBody>
      </p:sp>
    </p:spTree>
    <p:extLst>
      <p:ext uri="{BB962C8B-B14F-4D97-AF65-F5344CB8AC3E}">
        <p14:creationId xmlns:p14="http://schemas.microsoft.com/office/powerpoint/2010/main" val="2326343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62B6A-6D82-E94E-E5A4-62B65F9F55B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F84FE64-CD45-BD54-CB0C-E2C3415C0AB6}"/>
              </a:ext>
            </a:extLst>
          </p:cNvPr>
          <p:cNvSpPr>
            <a:spLocks noGrp="1"/>
          </p:cNvSpPr>
          <p:nvPr>
            <p:ph type="dt" sz="half" idx="10"/>
          </p:nvPr>
        </p:nvSpPr>
        <p:spPr/>
        <p:txBody>
          <a:bodyPr/>
          <a:lstStyle/>
          <a:p>
            <a:fld id="{CEE5C50A-5A41-4FD6-871D-4494653C079F}" type="datetimeFigureOut">
              <a:rPr lang="en-IN" smtClean="0"/>
              <a:t>10-07-2026</a:t>
            </a:fld>
            <a:endParaRPr lang="en-IN"/>
          </a:p>
        </p:txBody>
      </p:sp>
      <p:sp>
        <p:nvSpPr>
          <p:cNvPr id="4" name="Footer Placeholder 3">
            <a:extLst>
              <a:ext uri="{FF2B5EF4-FFF2-40B4-BE49-F238E27FC236}">
                <a16:creationId xmlns:a16="http://schemas.microsoft.com/office/drawing/2014/main" id="{18268613-CB94-7EFB-A1DB-F5EF798595A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1BAF4C6-F6A4-2E98-9C51-B2E730CF475C}"/>
              </a:ext>
            </a:extLst>
          </p:cNvPr>
          <p:cNvSpPr>
            <a:spLocks noGrp="1"/>
          </p:cNvSpPr>
          <p:nvPr>
            <p:ph type="sldNum" sz="quarter" idx="12"/>
          </p:nvPr>
        </p:nvSpPr>
        <p:spPr/>
        <p:txBody>
          <a:bodyPr/>
          <a:lstStyle/>
          <a:p>
            <a:fld id="{10E91919-CEBF-4639-80DB-1002C00D4C49}" type="slidenum">
              <a:rPr lang="en-IN" smtClean="0"/>
              <a:t>‹#›</a:t>
            </a:fld>
            <a:endParaRPr lang="en-IN"/>
          </a:p>
        </p:txBody>
      </p:sp>
    </p:spTree>
    <p:extLst>
      <p:ext uri="{BB962C8B-B14F-4D97-AF65-F5344CB8AC3E}">
        <p14:creationId xmlns:p14="http://schemas.microsoft.com/office/powerpoint/2010/main" val="3278404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E57F5D-0703-F9B2-CE39-FDED449CEAF1}"/>
              </a:ext>
            </a:extLst>
          </p:cNvPr>
          <p:cNvSpPr>
            <a:spLocks noGrp="1"/>
          </p:cNvSpPr>
          <p:nvPr>
            <p:ph type="dt" sz="half" idx="10"/>
          </p:nvPr>
        </p:nvSpPr>
        <p:spPr/>
        <p:txBody>
          <a:bodyPr/>
          <a:lstStyle/>
          <a:p>
            <a:fld id="{CEE5C50A-5A41-4FD6-871D-4494653C079F}" type="datetimeFigureOut">
              <a:rPr lang="en-IN" smtClean="0"/>
              <a:t>10-07-2026</a:t>
            </a:fld>
            <a:endParaRPr lang="en-IN"/>
          </a:p>
        </p:txBody>
      </p:sp>
      <p:sp>
        <p:nvSpPr>
          <p:cNvPr id="3" name="Footer Placeholder 2">
            <a:extLst>
              <a:ext uri="{FF2B5EF4-FFF2-40B4-BE49-F238E27FC236}">
                <a16:creationId xmlns:a16="http://schemas.microsoft.com/office/drawing/2014/main" id="{FEFE06F9-FD06-ACE6-9393-CA3D5EF586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A53BE7F-E1F8-9669-4DF8-653B974E7043}"/>
              </a:ext>
            </a:extLst>
          </p:cNvPr>
          <p:cNvSpPr>
            <a:spLocks noGrp="1"/>
          </p:cNvSpPr>
          <p:nvPr>
            <p:ph type="sldNum" sz="quarter" idx="12"/>
          </p:nvPr>
        </p:nvSpPr>
        <p:spPr/>
        <p:txBody>
          <a:bodyPr/>
          <a:lstStyle/>
          <a:p>
            <a:fld id="{10E91919-CEBF-4639-80DB-1002C00D4C49}" type="slidenum">
              <a:rPr lang="en-IN" smtClean="0"/>
              <a:t>‹#›</a:t>
            </a:fld>
            <a:endParaRPr lang="en-IN"/>
          </a:p>
        </p:txBody>
      </p:sp>
    </p:spTree>
    <p:extLst>
      <p:ext uri="{BB962C8B-B14F-4D97-AF65-F5344CB8AC3E}">
        <p14:creationId xmlns:p14="http://schemas.microsoft.com/office/powerpoint/2010/main" val="3923260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65A21-7727-5F9B-2181-15C1EF9AB4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7526800-E8C2-EFA2-96E7-96C8D98B5A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8AAB020-4F2D-5AB3-84C5-0B8BB3DADD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5195A1-6AAF-3F88-6F04-60DDAC2C3F26}"/>
              </a:ext>
            </a:extLst>
          </p:cNvPr>
          <p:cNvSpPr>
            <a:spLocks noGrp="1"/>
          </p:cNvSpPr>
          <p:nvPr>
            <p:ph type="dt" sz="half" idx="10"/>
          </p:nvPr>
        </p:nvSpPr>
        <p:spPr/>
        <p:txBody>
          <a:bodyPr/>
          <a:lstStyle/>
          <a:p>
            <a:fld id="{CEE5C50A-5A41-4FD6-871D-4494653C079F}" type="datetimeFigureOut">
              <a:rPr lang="en-IN" smtClean="0"/>
              <a:t>10-07-2026</a:t>
            </a:fld>
            <a:endParaRPr lang="en-IN"/>
          </a:p>
        </p:txBody>
      </p:sp>
      <p:sp>
        <p:nvSpPr>
          <p:cNvPr id="6" name="Footer Placeholder 5">
            <a:extLst>
              <a:ext uri="{FF2B5EF4-FFF2-40B4-BE49-F238E27FC236}">
                <a16:creationId xmlns:a16="http://schemas.microsoft.com/office/drawing/2014/main" id="{E3E189FD-FFCC-F21F-7BF9-B39C21CA84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029AE2-992D-FDE9-97C1-BB471C0D2EB6}"/>
              </a:ext>
            </a:extLst>
          </p:cNvPr>
          <p:cNvSpPr>
            <a:spLocks noGrp="1"/>
          </p:cNvSpPr>
          <p:nvPr>
            <p:ph type="sldNum" sz="quarter" idx="12"/>
          </p:nvPr>
        </p:nvSpPr>
        <p:spPr/>
        <p:txBody>
          <a:bodyPr/>
          <a:lstStyle/>
          <a:p>
            <a:fld id="{10E91919-CEBF-4639-80DB-1002C00D4C49}" type="slidenum">
              <a:rPr lang="en-IN" smtClean="0"/>
              <a:t>‹#›</a:t>
            </a:fld>
            <a:endParaRPr lang="en-IN"/>
          </a:p>
        </p:txBody>
      </p:sp>
    </p:spTree>
    <p:extLst>
      <p:ext uri="{BB962C8B-B14F-4D97-AF65-F5344CB8AC3E}">
        <p14:creationId xmlns:p14="http://schemas.microsoft.com/office/powerpoint/2010/main" val="2601689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EB638-849F-4E9A-D30E-7ED6C8C700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A50B964-6680-1BE2-8851-701A7F2C51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13124F-F097-4A6B-A94C-480FAFE1C0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EAA309-516A-6784-50CA-7A20B4FD686F}"/>
              </a:ext>
            </a:extLst>
          </p:cNvPr>
          <p:cNvSpPr>
            <a:spLocks noGrp="1"/>
          </p:cNvSpPr>
          <p:nvPr>
            <p:ph type="dt" sz="half" idx="10"/>
          </p:nvPr>
        </p:nvSpPr>
        <p:spPr/>
        <p:txBody>
          <a:bodyPr/>
          <a:lstStyle/>
          <a:p>
            <a:fld id="{CEE5C50A-5A41-4FD6-871D-4494653C079F}" type="datetimeFigureOut">
              <a:rPr lang="en-IN" smtClean="0"/>
              <a:t>10-07-2026</a:t>
            </a:fld>
            <a:endParaRPr lang="en-IN"/>
          </a:p>
        </p:txBody>
      </p:sp>
      <p:sp>
        <p:nvSpPr>
          <p:cNvPr id="6" name="Footer Placeholder 5">
            <a:extLst>
              <a:ext uri="{FF2B5EF4-FFF2-40B4-BE49-F238E27FC236}">
                <a16:creationId xmlns:a16="http://schemas.microsoft.com/office/drawing/2014/main" id="{6E904B1B-5D61-49B6-947F-ABFD286C11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33DE1F-FF53-BADA-9C55-8367D68AADCF}"/>
              </a:ext>
            </a:extLst>
          </p:cNvPr>
          <p:cNvSpPr>
            <a:spLocks noGrp="1"/>
          </p:cNvSpPr>
          <p:nvPr>
            <p:ph type="sldNum" sz="quarter" idx="12"/>
          </p:nvPr>
        </p:nvSpPr>
        <p:spPr/>
        <p:txBody>
          <a:bodyPr/>
          <a:lstStyle/>
          <a:p>
            <a:fld id="{10E91919-CEBF-4639-80DB-1002C00D4C49}" type="slidenum">
              <a:rPr lang="en-IN" smtClean="0"/>
              <a:t>‹#›</a:t>
            </a:fld>
            <a:endParaRPr lang="en-IN"/>
          </a:p>
        </p:txBody>
      </p:sp>
    </p:spTree>
    <p:extLst>
      <p:ext uri="{BB962C8B-B14F-4D97-AF65-F5344CB8AC3E}">
        <p14:creationId xmlns:p14="http://schemas.microsoft.com/office/powerpoint/2010/main" val="736134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8B916-8341-304F-44DD-EFA000E901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822BCE-D808-587B-7F57-4659D4DC91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FA7703-2E9C-33DB-EFB6-E4EF2D724008}"/>
              </a:ext>
            </a:extLst>
          </p:cNvPr>
          <p:cNvSpPr>
            <a:spLocks noGrp="1"/>
          </p:cNvSpPr>
          <p:nvPr>
            <p:ph type="dt" sz="half" idx="10"/>
          </p:nvPr>
        </p:nvSpPr>
        <p:spPr/>
        <p:txBody>
          <a:bodyPr/>
          <a:lstStyle/>
          <a:p>
            <a:fld id="{CEE5C50A-5A41-4FD6-871D-4494653C079F}" type="datetimeFigureOut">
              <a:rPr lang="en-IN" smtClean="0"/>
              <a:t>10-07-2026</a:t>
            </a:fld>
            <a:endParaRPr lang="en-IN"/>
          </a:p>
        </p:txBody>
      </p:sp>
      <p:sp>
        <p:nvSpPr>
          <p:cNvPr id="5" name="Footer Placeholder 4">
            <a:extLst>
              <a:ext uri="{FF2B5EF4-FFF2-40B4-BE49-F238E27FC236}">
                <a16:creationId xmlns:a16="http://schemas.microsoft.com/office/drawing/2014/main" id="{E928C271-F234-7414-AAB1-E3616E66FA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5C9FC7-D89E-4F3C-D272-EDBAB50F4A9A}"/>
              </a:ext>
            </a:extLst>
          </p:cNvPr>
          <p:cNvSpPr>
            <a:spLocks noGrp="1"/>
          </p:cNvSpPr>
          <p:nvPr>
            <p:ph type="sldNum" sz="quarter" idx="12"/>
          </p:nvPr>
        </p:nvSpPr>
        <p:spPr/>
        <p:txBody>
          <a:bodyPr/>
          <a:lstStyle/>
          <a:p>
            <a:fld id="{10E91919-CEBF-4639-80DB-1002C00D4C49}" type="slidenum">
              <a:rPr lang="en-IN" smtClean="0"/>
              <a:t>‹#›</a:t>
            </a:fld>
            <a:endParaRPr lang="en-IN"/>
          </a:p>
        </p:txBody>
      </p:sp>
    </p:spTree>
    <p:extLst>
      <p:ext uri="{BB962C8B-B14F-4D97-AF65-F5344CB8AC3E}">
        <p14:creationId xmlns:p14="http://schemas.microsoft.com/office/powerpoint/2010/main" val="3073185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D3A6C2-20DB-8491-F067-F365B552A9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ABB772-5E86-76F5-B3E6-D7E03C9DA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1951AD-BB2C-3B07-1363-3F2BC6E3615C}"/>
              </a:ext>
            </a:extLst>
          </p:cNvPr>
          <p:cNvSpPr>
            <a:spLocks noGrp="1"/>
          </p:cNvSpPr>
          <p:nvPr>
            <p:ph type="dt" sz="half" idx="10"/>
          </p:nvPr>
        </p:nvSpPr>
        <p:spPr/>
        <p:txBody>
          <a:bodyPr/>
          <a:lstStyle/>
          <a:p>
            <a:fld id="{CEE5C50A-5A41-4FD6-871D-4494653C079F}" type="datetimeFigureOut">
              <a:rPr lang="en-IN" smtClean="0"/>
              <a:t>10-07-2026</a:t>
            </a:fld>
            <a:endParaRPr lang="en-IN"/>
          </a:p>
        </p:txBody>
      </p:sp>
      <p:sp>
        <p:nvSpPr>
          <p:cNvPr id="5" name="Footer Placeholder 4">
            <a:extLst>
              <a:ext uri="{FF2B5EF4-FFF2-40B4-BE49-F238E27FC236}">
                <a16:creationId xmlns:a16="http://schemas.microsoft.com/office/drawing/2014/main" id="{261BDEDB-0D4E-E54F-67EC-82929C3DBF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98A3F-C734-464D-EB9B-6ED6BA9AA71E}"/>
              </a:ext>
            </a:extLst>
          </p:cNvPr>
          <p:cNvSpPr>
            <a:spLocks noGrp="1"/>
          </p:cNvSpPr>
          <p:nvPr>
            <p:ph type="sldNum" sz="quarter" idx="12"/>
          </p:nvPr>
        </p:nvSpPr>
        <p:spPr/>
        <p:txBody>
          <a:bodyPr/>
          <a:lstStyle/>
          <a:p>
            <a:fld id="{10E91919-CEBF-4639-80DB-1002C00D4C49}" type="slidenum">
              <a:rPr lang="en-IN" smtClean="0"/>
              <a:t>‹#›</a:t>
            </a:fld>
            <a:endParaRPr lang="en-IN"/>
          </a:p>
        </p:txBody>
      </p:sp>
    </p:spTree>
    <p:extLst>
      <p:ext uri="{BB962C8B-B14F-4D97-AF65-F5344CB8AC3E}">
        <p14:creationId xmlns:p14="http://schemas.microsoft.com/office/powerpoint/2010/main" val="1551565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8342EA-3BFE-6ED3-10F9-9BD10B29E9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B2ACDB5-1591-C701-7483-FEE86DA5DE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04A09F-E85D-55F5-5380-DE7AF3DA9B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E5C50A-5A41-4FD6-871D-4494653C079F}" type="datetimeFigureOut">
              <a:rPr lang="en-IN" smtClean="0"/>
              <a:t>10-07-2026</a:t>
            </a:fld>
            <a:endParaRPr lang="en-IN"/>
          </a:p>
        </p:txBody>
      </p:sp>
      <p:sp>
        <p:nvSpPr>
          <p:cNvPr id="5" name="Footer Placeholder 4">
            <a:extLst>
              <a:ext uri="{FF2B5EF4-FFF2-40B4-BE49-F238E27FC236}">
                <a16:creationId xmlns:a16="http://schemas.microsoft.com/office/drawing/2014/main" id="{E13E2C41-9D65-F157-FF98-95DBF70766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B45F03B-12C2-ABCB-38A1-46A82E8B64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E91919-CEBF-4639-80DB-1002C00D4C49}" type="slidenum">
              <a:rPr lang="en-IN" smtClean="0"/>
              <a:t>‹#›</a:t>
            </a:fld>
            <a:endParaRPr lang="en-IN"/>
          </a:p>
        </p:txBody>
      </p:sp>
    </p:spTree>
    <p:extLst>
      <p:ext uri="{BB962C8B-B14F-4D97-AF65-F5344CB8AC3E}">
        <p14:creationId xmlns:p14="http://schemas.microsoft.com/office/powerpoint/2010/main" val="2673549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912C5382-6A4F-E622-5B38-4F69905FD93F}"/>
              </a:ext>
            </a:extLst>
          </p:cNvPr>
          <p:cNvSpPr txBox="1"/>
          <p:nvPr/>
        </p:nvSpPr>
        <p:spPr>
          <a:xfrm>
            <a:off x="1243781" y="2154607"/>
            <a:ext cx="9448800" cy="2039020"/>
          </a:xfrm>
          <a:prstGeom prst="rect">
            <a:avLst/>
          </a:prstGeom>
          <a:noFill/>
        </p:spPr>
        <p:txBody>
          <a:bodyPr wrap="square">
            <a:spAutoFit/>
          </a:bodyPr>
          <a:lstStyle/>
          <a:p>
            <a:pPr marL="1395730" marR="625475" indent="-767715" algn="ctr"/>
            <a:r>
              <a:rPr lang="en-US" sz="4800" b="1" dirty="0">
                <a:latin typeface="Calibri"/>
                <a:cs typeface="Calibri"/>
              </a:rPr>
              <a:t>  IBM</a:t>
            </a:r>
            <a:r>
              <a:rPr lang="en-US" sz="4800" b="1" spc="-45" dirty="0">
                <a:latin typeface="Calibri"/>
                <a:cs typeface="Calibri"/>
              </a:rPr>
              <a:t> </a:t>
            </a:r>
            <a:r>
              <a:rPr lang="en-US" sz="4800" b="1" dirty="0">
                <a:latin typeface="Calibri"/>
                <a:cs typeface="Calibri"/>
              </a:rPr>
              <a:t>University</a:t>
            </a:r>
            <a:r>
              <a:rPr lang="en-US" sz="4800" b="1" spc="-70" dirty="0">
                <a:latin typeface="Calibri"/>
                <a:cs typeface="Calibri"/>
              </a:rPr>
              <a:t> </a:t>
            </a:r>
            <a:r>
              <a:rPr lang="en-US" sz="4800" b="1" spc="-10" dirty="0">
                <a:latin typeface="Calibri"/>
                <a:cs typeface="Calibri"/>
              </a:rPr>
              <a:t>Engagement P</a:t>
            </a:r>
            <a:r>
              <a:rPr lang="en-US" sz="4800" b="1" dirty="0">
                <a:latin typeface="Calibri"/>
                <a:cs typeface="Calibri"/>
              </a:rPr>
              <a:t>roject</a:t>
            </a:r>
            <a:r>
              <a:rPr lang="en-US" sz="4800" b="1" spc="-55" dirty="0">
                <a:latin typeface="Calibri"/>
                <a:cs typeface="Calibri"/>
              </a:rPr>
              <a:t> </a:t>
            </a:r>
            <a:r>
              <a:rPr lang="en-US" sz="4800" b="1" spc="-10" dirty="0">
                <a:latin typeface="Calibri"/>
                <a:cs typeface="Calibri"/>
              </a:rPr>
              <a:t>Submission</a:t>
            </a:r>
            <a:endParaRPr lang="en-US" sz="4800" b="1" dirty="0">
              <a:latin typeface="Calibri"/>
              <a:cs typeface="Calibri"/>
            </a:endParaRPr>
          </a:p>
          <a:p>
            <a:pPr marL="293370" algn="ctr">
              <a:spcBef>
                <a:spcPts val="1510"/>
              </a:spcBef>
            </a:pPr>
            <a:r>
              <a:rPr lang="en-US" sz="1800" b="1" i="1" spc="-10" dirty="0">
                <a:solidFill>
                  <a:srgbClr val="878787"/>
                </a:solidFill>
                <a:latin typeface="Calibri"/>
                <a:cs typeface="Calibri"/>
              </a:rPr>
              <a:t>“Exploring</a:t>
            </a:r>
            <a:r>
              <a:rPr lang="en-US" sz="1800" b="1" i="1" spc="-15" dirty="0">
                <a:solidFill>
                  <a:srgbClr val="878787"/>
                </a:solidFill>
                <a:latin typeface="Calibri"/>
                <a:cs typeface="Calibri"/>
              </a:rPr>
              <a:t> </a:t>
            </a:r>
            <a:r>
              <a:rPr lang="en-US" sz="1800" b="1" i="1" dirty="0">
                <a:solidFill>
                  <a:srgbClr val="878787"/>
                </a:solidFill>
                <a:latin typeface="Calibri"/>
                <a:cs typeface="Calibri"/>
              </a:rPr>
              <a:t>the</a:t>
            </a:r>
            <a:r>
              <a:rPr lang="en-US" sz="1800" b="1" i="1" spc="-45" dirty="0">
                <a:solidFill>
                  <a:srgbClr val="878787"/>
                </a:solidFill>
                <a:latin typeface="Calibri"/>
                <a:cs typeface="Calibri"/>
              </a:rPr>
              <a:t> </a:t>
            </a:r>
            <a:r>
              <a:rPr lang="en-US" sz="1800" b="1" i="1" dirty="0">
                <a:solidFill>
                  <a:srgbClr val="878787"/>
                </a:solidFill>
                <a:latin typeface="Calibri"/>
                <a:cs typeface="Calibri"/>
              </a:rPr>
              <a:t>Power</a:t>
            </a:r>
            <a:r>
              <a:rPr lang="en-US" sz="1800" b="1" i="1" spc="-25" dirty="0">
                <a:solidFill>
                  <a:srgbClr val="878787"/>
                </a:solidFill>
                <a:latin typeface="Calibri"/>
                <a:cs typeface="Calibri"/>
              </a:rPr>
              <a:t> </a:t>
            </a:r>
            <a:r>
              <a:rPr lang="en-US" sz="1800" b="1" i="1" dirty="0">
                <a:solidFill>
                  <a:srgbClr val="878787"/>
                </a:solidFill>
                <a:latin typeface="Calibri"/>
                <a:cs typeface="Calibri"/>
              </a:rPr>
              <a:t>of</a:t>
            </a:r>
            <a:r>
              <a:rPr lang="en-US" sz="1800" b="1" i="1" spc="-60" dirty="0">
                <a:solidFill>
                  <a:srgbClr val="878787"/>
                </a:solidFill>
                <a:latin typeface="Calibri"/>
                <a:cs typeface="Calibri"/>
              </a:rPr>
              <a:t> </a:t>
            </a:r>
            <a:r>
              <a:rPr lang="en-US" sz="1800" b="1" i="1" dirty="0">
                <a:solidFill>
                  <a:srgbClr val="878787"/>
                </a:solidFill>
                <a:latin typeface="Calibri"/>
                <a:cs typeface="Calibri"/>
              </a:rPr>
              <a:t>Machine</a:t>
            </a:r>
            <a:r>
              <a:rPr lang="en-US" sz="1800" b="1" i="1" spc="30" dirty="0">
                <a:solidFill>
                  <a:srgbClr val="878787"/>
                </a:solidFill>
                <a:latin typeface="Calibri"/>
                <a:cs typeface="Calibri"/>
              </a:rPr>
              <a:t> </a:t>
            </a:r>
            <a:r>
              <a:rPr lang="en-US" sz="1800" b="1" i="1" spc="-10" dirty="0">
                <a:solidFill>
                  <a:srgbClr val="878787"/>
                </a:solidFill>
                <a:latin typeface="Calibri"/>
                <a:cs typeface="Calibri"/>
              </a:rPr>
              <a:t>Learning</a:t>
            </a:r>
            <a:r>
              <a:rPr lang="en-US" sz="1800" b="1" i="1" spc="-15" dirty="0">
                <a:solidFill>
                  <a:srgbClr val="878787"/>
                </a:solidFill>
                <a:latin typeface="Calibri"/>
                <a:cs typeface="Calibri"/>
              </a:rPr>
              <a:t> </a:t>
            </a:r>
            <a:r>
              <a:rPr lang="en-US" sz="1800" b="1" i="1" spc="-10" dirty="0">
                <a:solidFill>
                  <a:srgbClr val="878787"/>
                </a:solidFill>
                <a:latin typeface="Calibri"/>
                <a:cs typeface="Calibri"/>
              </a:rPr>
              <a:t>with </a:t>
            </a:r>
            <a:r>
              <a:rPr lang="en-US" sz="1800" b="1" i="1" dirty="0">
                <a:solidFill>
                  <a:srgbClr val="878787"/>
                </a:solidFill>
                <a:latin typeface="Calibri"/>
                <a:cs typeface="Calibri"/>
              </a:rPr>
              <a:t>IBM</a:t>
            </a:r>
            <a:r>
              <a:rPr lang="en-US" sz="1800" b="1" i="1" spc="-50" dirty="0">
                <a:solidFill>
                  <a:srgbClr val="878787"/>
                </a:solidFill>
                <a:latin typeface="Calibri"/>
                <a:cs typeface="Calibri"/>
              </a:rPr>
              <a:t> </a:t>
            </a:r>
            <a:r>
              <a:rPr lang="en-US" sz="1800" b="1" i="1" spc="-10" dirty="0">
                <a:solidFill>
                  <a:srgbClr val="878787"/>
                </a:solidFill>
                <a:latin typeface="Calibri"/>
                <a:cs typeface="Calibri"/>
              </a:rPr>
              <a:t>Cloud”</a:t>
            </a:r>
            <a:endParaRPr lang="en-IN" dirty="0"/>
          </a:p>
        </p:txBody>
      </p:sp>
    </p:spTree>
    <p:extLst>
      <p:ext uri="{BB962C8B-B14F-4D97-AF65-F5344CB8AC3E}">
        <p14:creationId xmlns:p14="http://schemas.microsoft.com/office/powerpoint/2010/main" val="784073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C0218F7-43CA-3E94-7880-42226F2952E8}"/>
              </a:ext>
            </a:extLst>
          </p:cNvPr>
          <p:cNvPicPr>
            <a:picLocks noGrp="1" noChangeAspect="1"/>
          </p:cNvPicPr>
          <p:nvPr>
            <p:ph idx="1"/>
          </p:nvPr>
        </p:nvPicPr>
        <p:blipFill>
          <a:blip r:embed="rId2"/>
          <a:stretch>
            <a:fillRect/>
          </a:stretch>
        </p:blipFill>
        <p:spPr>
          <a:xfrm>
            <a:off x="1096869" y="2560674"/>
            <a:ext cx="10377376" cy="2429108"/>
          </a:xfrm>
          <a:prstGeom prst="rect">
            <a:avLst/>
          </a:prstGeom>
        </p:spPr>
      </p:pic>
      <p:sp>
        <p:nvSpPr>
          <p:cNvPr id="8" name="object 6">
            <a:extLst>
              <a:ext uri="{FF2B5EF4-FFF2-40B4-BE49-F238E27FC236}">
                <a16:creationId xmlns:a16="http://schemas.microsoft.com/office/drawing/2014/main" id="{C1BC3D7B-517E-BCFE-F4B8-EE99B18174D0}"/>
              </a:ext>
            </a:extLst>
          </p:cNvPr>
          <p:cNvSpPr txBox="1"/>
          <p:nvPr/>
        </p:nvSpPr>
        <p:spPr>
          <a:xfrm>
            <a:off x="1096869" y="905156"/>
            <a:ext cx="2314925" cy="320601"/>
          </a:xfrm>
          <a:prstGeom prst="rect">
            <a:avLst/>
          </a:prstGeom>
        </p:spPr>
        <p:txBody>
          <a:bodyPr vert="horz" wrap="square" lIns="0" tIns="12700" rIns="0" bIns="0" rtlCol="0">
            <a:spAutoFit/>
          </a:bodyPr>
          <a:lstStyle/>
          <a:p>
            <a:pPr marL="12700">
              <a:lnSpc>
                <a:spcPct val="100000"/>
              </a:lnSpc>
              <a:spcBef>
                <a:spcPts val="100"/>
              </a:spcBef>
            </a:pPr>
            <a:r>
              <a:rPr sz="2000" b="1" dirty="0">
                <a:latin typeface="Arial"/>
                <a:cs typeface="Arial"/>
              </a:rPr>
              <a:t>Project</a:t>
            </a:r>
            <a:r>
              <a:rPr sz="2000" b="1" spc="-40" dirty="0">
                <a:latin typeface="Arial"/>
                <a:cs typeface="Arial"/>
              </a:rPr>
              <a:t> </a:t>
            </a:r>
            <a:r>
              <a:rPr sz="2000" b="1" dirty="0">
                <a:latin typeface="Arial"/>
                <a:cs typeface="Arial"/>
              </a:rPr>
              <a:t>Ti</a:t>
            </a:r>
            <a:r>
              <a:rPr lang="en-US" sz="2000" b="1" dirty="0">
                <a:latin typeface="Arial"/>
                <a:cs typeface="Arial"/>
              </a:rPr>
              <a:t>t</a:t>
            </a:r>
            <a:r>
              <a:rPr sz="2000" b="1" dirty="0">
                <a:latin typeface="Arial"/>
                <a:cs typeface="Arial"/>
              </a:rPr>
              <a:t>le</a:t>
            </a:r>
            <a:r>
              <a:rPr sz="2000" b="1" spc="-20" dirty="0">
                <a:latin typeface="Arial"/>
                <a:cs typeface="Arial"/>
              </a:rPr>
              <a:t> </a:t>
            </a:r>
            <a:r>
              <a:rPr sz="2000" b="1" spc="-50" dirty="0">
                <a:latin typeface="Arial"/>
                <a:cs typeface="Arial"/>
              </a:rPr>
              <a:t>–</a:t>
            </a:r>
            <a:endParaRPr sz="2000" dirty="0">
              <a:latin typeface="Arial"/>
              <a:cs typeface="Arial"/>
            </a:endParaRPr>
          </a:p>
        </p:txBody>
      </p:sp>
      <p:sp>
        <p:nvSpPr>
          <p:cNvPr id="10" name="object 4">
            <a:extLst>
              <a:ext uri="{FF2B5EF4-FFF2-40B4-BE49-F238E27FC236}">
                <a16:creationId xmlns:a16="http://schemas.microsoft.com/office/drawing/2014/main" id="{AAE3C287-CDC2-2D9A-E6A0-3278CFB185E9}"/>
              </a:ext>
            </a:extLst>
          </p:cNvPr>
          <p:cNvSpPr txBox="1"/>
          <p:nvPr/>
        </p:nvSpPr>
        <p:spPr>
          <a:xfrm>
            <a:off x="1096869" y="1670729"/>
            <a:ext cx="3140834" cy="320601"/>
          </a:xfrm>
          <a:prstGeom prst="rect">
            <a:avLst/>
          </a:prstGeom>
        </p:spPr>
        <p:txBody>
          <a:bodyPr vert="horz" wrap="square" lIns="0" tIns="12700" rIns="0" bIns="0" rtlCol="0">
            <a:spAutoFit/>
          </a:bodyPr>
          <a:lstStyle/>
          <a:p>
            <a:pPr marL="12700">
              <a:lnSpc>
                <a:spcPct val="100000"/>
              </a:lnSpc>
              <a:spcBef>
                <a:spcPts val="100"/>
              </a:spcBef>
            </a:pPr>
            <a:r>
              <a:rPr sz="2000" b="1" dirty="0">
                <a:latin typeface="Arial"/>
                <a:cs typeface="Arial"/>
              </a:rPr>
              <a:t>Domain</a:t>
            </a:r>
            <a:r>
              <a:rPr sz="2000" b="1" spc="-35" dirty="0">
                <a:latin typeface="Arial"/>
                <a:cs typeface="Arial"/>
              </a:rPr>
              <a:t> </a:t>
            </a:r>
            <a:r>
              <a:rPr sz="2000" b="1" dirty="0">
                <a:latin typeface="Arial"/>
                <a:cs typeface="Arial"/>
              </a:rPr>
              <a:t>of</a:t>
            </a:r>
            <a:r>
              <a:rPr sz="2000" b="1" spc="290" dirty="0">
                <a:latin typeface="Arial"/>
                <a:cs typeface="Arial"/>
              </a:rPr>
              <a:t> </a:t>
            </a:r>
            <a:r>
              <a:rPr sz="2000" b="1" dirty="0">
                <a:latin typeface="Arial"/>
                <a:cs typeface="Arial"/>
              </a:rPr>
              <a:t>Project</a:t>
            </a:r>
            <a:r>
              <a:rPr sz="2000" b="1" spc="-5" dirty="0">
                <a:latin typeface="Arial"/>
                <a:cs typeface="Arial"/>
              </a:rPr>
              <a:t> </a:t>
            </a:r>
            <a:r>
              <a:rPr sz="2000" b="1" spc="-50" dirty="0">
                <a:latin typeface="Arial"/>
                <a:cs typeface="Arial"/>
              </a:rPr>
              <a:t>–</a:t>
            </a:r>
            <a:endParaRPr sz="2000" dirty="0">
              <a:latin typeface="Arial"/>
              <a:cs typeface="Arial"/>
            </a:endParaRPr>
          </a:p>
        </p:txBody>
      </p:sp>
      <p:pic>
        <p:nvPicPr>
          <p:cNvPr id="12" name="Picture 11">
            <a:extLst>
              <a:ext uri="{FF2B5EF4-FFF2-40B4-BE49-F238E27FC236}">
                <a16:creationId xmlns:a16="http://schemas.microsoft.com/office/drawing/2014/main" id="{0EA45FE9-5F9D-ED85-BBB7-D026C038FB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9670" y="3768617"/>
            <a:ext cx="866124" cy="1112553"/>
          </a:xfrm>
          <a:prstGeom prst="rect">
            <a:avLst/>
          </a:prstGeom>
        </p:spPr>
      </p:pic>
      <p:sp>
        <p:nvSpPr>
          <p:cNvPr id="13" name="TextBox 12">
            <a:extLst>
              <a:ext uri="{FF2B5EF4-FFF2-40B4-BE49-F238E27FC236}">
                <a16:creationId xmlns:a16="http://schemas.microsoft.com/office/drawing/2014/main" id="{427D2A5C-0513-4682-60B1-2840199E476F}"/>
              </a:ext>
            </a:extLst>
          </p:cNvPr>
          <p:cNvSpPr txBox="1"/>
          <p:nvPr/>
        </p:nvSpPr>
        <p:spPr>
          <a:xfrm>
            <a:off x="6070600" y="4027446"/>
            <a:ext cx="2743200" cy="369332"/>
          </a:xfrm>
          <a:prstGeom prst="rect">
            <a:avLst/>
          </a:prstGeom>
          <a:noFill/>
        </p:spPr>
        <p:txBody>
          <a:bodyPr wrap="square" rtlCol="0">
            <a:spAutoFit/>
          </a:bodyPr>
          <a:lstStyle/>
          <a:p>
            <a:pPr algn="ctr"/>
            <a:r>
              <a:rPr lang="en-IN" dirty="0"/>
              <a:t>nikithagunda5@gmail.com</a:t>
            </a:r>
          </a:p>
        </p:txBody>
      </p:sp>
      <p:sp>
        <p:nvSpPr>
          <p:cNvPr id="14" name="TextBox 13">
            <a:extLst>
              <a:ext uri="{FF2B5EF4-FFF2-40B4-BE49-F238E27FC236}">
                <a16:creationId xmlns:a16="http://schemas.microsoft.com/office/drawing/2014/main" id="{564972B4-7DF8-EFCC-13F2-DF05A5620122}"/>
              </a:ext>
            </a:extLst>
          </p:cNvPr>
          <p:cNvSpPr txBox="1"/>
          <p:nvPr/>
        </p:nvSpPr>
        <p:spPr>
          <a:xfrm>
            <a:off x="8731045" y="4029336"/>
            <a:ext cx="2743200" cy="369332"/>
          </a:xfrm>
          <a:prstGeom prst="rect">
            <a:avLst/>
          </a:prstGeom>
          <a:noFill/>
        </p:spPr>
        <p:txBody>
          <a:bodyPr wrap="square" rtlCol="0">
            <a:spAutoFit/>
          </a:bodyPr>
          <a:lstStyle/>
          <a:p>
            <a:pPr algn="ctr"/>
            <a:r>
              <a:rPr lang="en-IN" dirty="0"/>
              <a:t>7032451345</a:t>
            </a:r>
          </a:p>
        </p:txBody>
      </p:sp>
      <p:sp>
        <p:nvSpPr>
          <p:cNvPr id="15" name="TextBox 14">
            <a:extLst>
              <a:ext uri="{FF2B5EF4-FFF2-40B4-BE49-F238E27FC236}">
                <a16:creationId xmlns:a16="http://schemas.microsoft.com/office/drawing/2014/main" id="{E367B292-444A-0192-006C-1F761C6A0176}"/>
              </a:ext>
            </a:extLst>
          </p:cNvPr>
          <p:cNvSpPr txBox="1"/>
          <p:nvPr/>
        </p:nvSpPr>
        <p:spPr>
          <a:xfrm>
            <a:off x="1096869" y="4029336"/>
            <a:ext cx="2246099" cy="369332"/>
          </a:xfrm>
          <a:prstGeom prst="rect">
            <a:avLst/>
          </a:prstGeom>
          <a:noFill/>
        </p:spPr>
        <p:txBody>
          <a:bodyPr wrap="square" rtlCol="0">
            <a:spAutoFit/>
          </a:bodyPr>
          <a:lstStyle/>
          <a:p>
            <a:pPr algn="ctr"/>
            <a:r>
              <a:rPr lang="en-IN" dirty="0"/>
              <a:t>  Gunda Nikitha</a:t>
            </a:r>
          </a:p>
        </p:txBody>
      </p:sp>
      <p:sp>
        <p:nvSpPr>
          <p:cNvPr id="2" name="TextBox 1">
            <a:extLst>
              <a:ext uri="{FF2B5EF4-FFF2-40B4-BE49-F238E27FC236}">
                <a16:creationId xmlns:a16="http://schemas.microsoft.com/office/drawing/2014/main" id="{FB44D1E5-E0CA-532A-E8C4-C1AF0869B9DA}"/>
              </a:ext>
            </a:extLst>
          </p:cNvPr>
          <p:cNvSpPr txBox="1"/>
          <p:nvPr/>
        </p:nvSpPr>
        <p:spPr>
          <a:xfrm>
            <a:off x="3667760" y="1659007"/>
            <a:ext cx="6604000" cy="400110"/>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Machine Learning / Predictive Maintenance / Industrial AI</a:t>
            </a:r>
          </a:p>
        </p:txBody>
      </p:sp>
      <p:sp>
        <p:nvSpPr>
          <p:cNvPr id="3" name="TextBox 2">
            <a:extLst>
              <a:ext uri="{FF2B5EF4-FFF2-40B4-BE49-F238E27FC236}">
                <a16:creationId xmlns:a16="http://schemas.microsoft.com/office/drawing/2014/main" id="{AB9E68F1-0BCC-E101-9514-9EE8DA30C63F}"/>
              </a:ext>
            </a:extLst>
          </p:cNvPr>
          <p:cNvSpPr txBox="1"/>
          <p:nvPr/>
        </p:nvSpPr>
        <p:spPr>
          <a:xfrm>
            <a:off x="2875280" y="901330"/>
            <a:ext cx="9133840" cy="400110"/>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Predictive Maintenance of Industrial Machinery Using IBM watsonx.ai </a:t>
            </a:r>
            <a:r>
              <a:rPr lang="en-IN" sz="2000" dirty="0" err="1">
                <a:latin typeface="Arial" panose="020B0604020202020204" pitchFamily="34" charset="0"/>
                <a:cs typeface="Arial" panose="020B0604020202020204" pitchFamily="34" charset="0"/>
              </a:rPr>
              <a:t>AutoAI</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7498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3B9BF-B819-AC3C-3119-B7C349AC0C07}"/>
              </a:ext>
            </a:extLst>
          </p:cNvPr>
          <p:cNvSpPr>
            <a:spLocks noGrp="1"/>
          </p:cNvSpPr>
          <p:nvPr>
            <p:ph type="title"/>
          </p:nvPr>
        </p:nvSpPr>
        <p:spPr>
          <a:xfrm>
            <a:off x="572729" y="561770"/>
            <a:ext cx="10515600" cy="1021223"/>
          </a:xfrm>
        </p:spPr>
        <p:txBody>
          <a:bodyPr>
            <a:normAutofit/>
          </a:bodyPr>
          <a:lstStyle/>
          <a:p>
            <a:r>
              <a:rPr lang="en-IN" sz="2800" b="1" dirty="0">
                <a:solidFill>
                  <a:srgbClr val="FF0000"/>
                </a:solidFill>
                <a:latin typeface="Arial" panose="020B0604020202020204" pitchFamily="34" charset="0"/>
                <a:cs typeface="Arial" panose="020B0604020202020204" pitchFamily="34" charset="0"/>
              </a:rPr>
              <a:t>Problem Statement </a:t>
            </a:r>
            <a:r>
              <a:rPr lang="en-IN" sz="2800" dirty="0"/>
              <a:t>– </a:t>
            </a:r>
            <a:r>
              <a:rPr lang="en-IN" sz="2800" dirty="0">
                <a:latin typeface="Arial" panose="020B0604020202020204" pitchFamily="34" charset="0"/>
                <a:cs typeface="Arial" panose="020B0604020202020204" pitchFamily="34" charset="0"/>
              </a:rPr>
              <a:t>Predictive Maintenance of Industrial Machinery Using Machine Learning</a:t>
            </a:r>
            <a:endParaRPr lang="en-IN" sz="2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BFD672D-227D-CDF8-16BC-B632A122AC4F}"/>
              </a:ext>
            </a:extLst>
          </p:cNvPr>
          <p:cNvSpPr>
            <a:spLocks noGrp="1"/>
          </p:cNvSpPr>
          <p:nvPr>
            <p:ph idx="1"/>
          </p:nvPr>
        </p:nvSpPr>
        <p:spPr>
          <a:xfrm>
            <a:off x="381000" y="1839938"/>
            <a:ext cx="11430000" cy="3178124"/>
          </a:xfrm>
        </p:spPr>
        <p:txBody>
          <a:bodyPr>
            <a:normAutofit fontScale="25000" lnSpcReduction="20000"/>
          </a:bodyPr>
          <a:lstStyle/>
          <a:p>
            <a:pPr algn="just">
              <a:lnSpc>
                <a:spcPct val="120000"/>
              </a:lnSpc>
            </a:pPr>
            <a:r>
              <a:rPr lang="en-IN" sz="8000" dirty="0">
                <a:latin typeface="Arial" panose="020B0604020202020204" pitchFamily="34" charset="0"/>
                <a:cs typeface="Arial" panose="020B0604020202020204" pitchFamily="34" charset="0"/>
              </a:rPr>
              <a:t>Unexpected failures of industrial machinery can lead to costly production downtime, increased maintenance expenses, reduced productivity, and safety risks in manufacturing environments. Traditional maintenance strategies, such as reactive maintenance (repair after failure) and preventive maintenance (scheduled servicing), often fail to identify potential equipment failures in advance, resulting in unnecessary maintenance or unexpected breakdowns. Modern industries generate large amounts of machine sensor data that can be leveraged to predict failures before they occur. The objective of this project is to design, build, and evaluate a multi-class machine learning classification model that accurately predicts different types of machine failures based on operational parameters such as air temperature, process temperature, rotational speed, torque, tool wear, and machine type. The goal is to develop a reliable predictive maintenance solution that assists industries in identifying potential equipment failures early, enabling timely maintenance decisions, minimizing downtime, reducing operational costs, and improving overall equipment reliability and efficiency.</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0364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51FCA-150F-D2B9-BB06-AE27BC115244}"/>
              </a:ext>
            </a:extLst>
          </p:cNvPr>
          <p:cNvSpPr>
            <a:spLocks noGrp="1"/>
          </p:cNvSpPr>
          <p:nvPr>
            <p:ph type="title"/>
          </p:nvPr>
        </p:nvSpPr>
        <p:spPr>
          <a:xfrm>
            <a:off x="523568" y="178313"/>
            <a:ext cx="10515600" cy="1129378"/>
          </a:xfrm>
        </p:spPr>
        <p:txBody>
          <a:bodyPr/>
          <a:lstStyle/>
          <a:p>
            <a:r>
              <a:rPr lang="en-IN" sz="2800" b="1" dirty="0">
                <a:solidFill>
                  <a:srgbClr val="FF0000"/>
                </a:solidFill>
                <a:latin typeface="Arial" panose="020B0604020202020204" pitchFamily="34" charset="0"/>
                <a:cs typeface="Arial" panose="020B0604020202020204" pitchFamily="34" charset="0"/>
              </a:rPr>
              <a:t>Proposed Solution </a:t>
            </a:r>
            <a:r>
              <a:rPr lang="en-IN" dirty="0"/>
              <a:t>– </a:t>
            </a:r>
            <a:r>
              <a:rPr lang="en-IN" sz="2800" dirty="0">
                <a:latin typeface="Arial" panose="020B0604020202020204" pitchFamily="34" charset="0"/>
                <a:cs typeface="Arial" panose="020B0604020202020204" pitchFamily="34" charset="0"/>
              </a:rPr>
              <a:t>(IBM watsonx.ai Studio – </a:t>
            </a:r>
            <a:r>
              <a:rPr lang="en-IN" sz="2800" dirty="0" err="1">
                <a:latin typeface="Arial" panose="020B0604020202020204" pitchFamily="34" charset="0"/>
                <a:cs typeface="Arial" panose="020B0604020202020204" pitchFamily="34" charset="0"/>
              </a:rPr>
              <a:t>AutoAI</a:t>
            </a:r>
            <a:r>
              <a:rPr lang="en-IN" sz="2800" dirty="0">
                <a:latin typeface="Arial" panose="020B0604020202020204" pitchFamily="34" charset="0"/>
                <a:cs typeface="Arial" panose="020B0604020202020204" pitchFamily="34" charset="0"/>
              </a:rPr>
              <a:t>)</a:t>
            </a:r>
          </a:p>
        </p:txBody>
      </p:sp>
      <p:sp>
        <p:nvSpPr>
          <p:cNvPr id="3" name="Content Placeholder 2">
            <a:extLst>
              <a:ext uri="{FF2B5EF4-FFF2-40B4-BE49-F238E27FC236}">
                <a16:creationId xmlns:a16="http://schemas.microsoft.com/office/drawing/2014/main" id="{86288800-942A-E406-8F67-83A892435051}"/>
              </a:ext>
            </a:extLst>
          </p:cNvPr>
          <p:cNvSpPr>
            <a:spLocks noGrp="1"/>
          </p:cNvSpPr>
          <p:nvPr>
            <p:ph idx="1"/>
          </p:nvPr>
        </p:nvSpPr>
        <p:spPr>
          <a:xfrm>
            <a:off x="523568" y="1135344"/>
            <a:ext cx="10515600" cy="4351338"/>
          </a:xfrm>
        </p:spPr>
        <p:txBody>
          <a:bodyPr>
            <a:noAutofit/>
          </a:bodyPr>
          <a:lstStyle/>
          <a:p>
            <a:pPr algn="just">
              <a:lnSpc>
                <a:spcPct val="100000"/>
              </a:lnSpc>
            </a:pPr>
            <a:r>
              <a:rPr lang="en-IN" sz="2000" dirty="0">
                <a:latin typeface="Arial" panose="020B0604020202020204" pitchFamily="34" charset="0"/>
                <a:cs typeface="Arial" panose="020B0604020202020204" pitchFamily="34" charset="0"/>
              </a:rPr>
              <a:t>We propose an AI-powered Predictive Maintenance System using IBM watsonx.ai Studio and </a:t>
            </a:r>
            <a:r>
              <a:rPr lang="en-IN" sz="2000" dirty="0" err="1">
                <a:latin typeface="Arial" panose="020B0604020202020204" pitchFamily="34" charset="0"/>
                <a:cs typeface="Arial" panose="020B0604020202020204" pitchFamily="34" charset="0"/>
              </a:rPr>
              <a:t>AutoAI</a:t>
            </a:r>
            <a:r>
              <a:rPr lang="en-IN" sz="2000" dirty="0">
                <a:latin typeface="Arial" panose="020B0604020202020204" pitchFamily="34" charset="0"/>
                <a:cs typeface="Arial" panose="020B0604020202020204" pitchFamily="34" charset="0"/>
              </a:rPr>
              <a:t>.</a:t>
            </a:r>
          </a:p>
          <a:p>
            <a:pPr algn="just">
              <a:lnSpc>
                <a:spcPct val="100000"/>
              </a:lnSpc>
            </a:pPr>
            <a:r>
              <a:rPr lang="en-IN" sz="2000" dirty="0">
                <a:latin typeface="Arial" panose="020B0604020202020204" pitchFamily="34" charset="0"/>
                <a:cs typeface="Arial" panose="020B0604020202020204" pitchFamily="34" charset="0"/>
              </a:rPr>
              <a:t>Historical machine operational data, including air temperature, process temperature, rotational speed, torque, tool wear, and machine type, was collected and uploaded to IBM watsonx.ai.</a:t>
            </a:r>
          </a:p>
          <a:p>
            <a:pPr algn="just">
              <a:lnSpc>
                <a:spcPct val="100000"/>
              </a:lnSpc>
            </a:pPr>
            <a:r>
              <a:rPr lang="en-IN" sz="2000" dirty="0" err="1">
                <a:latin typeface="Arial" panose="020B0604020202020204" pitchFamily="34" charset="0"/>
                <a:cs typeface="Arial" panose="020B0604020202020204" pitchFamily="34" charset="0"/>
              </a:rPr>
              <a:t>AutoAI</a:t>
            </a:r>
            <a:r>
              <a:rPr lang="en-IN" sz="2000" dirty="0">
                <a:latin typeface="Arial" panose="020B0604020202020204" pitchFamily="34" charset="0"/>
                <a:cs typeface="Arial" panose="020B0604020202020204" pitchFamily="34" charset="0"/>
              </a:rPr>
              <a:t> automatically performs data preprocessing, feature engineering, algorithm selection, model training, and hyperparameter optimization to identify the most suitable machine learning model.</a:t>
            </a:r>
          </a:p>
          <a:p>
            <a:pPr algn="just">
              <a:lnSpc>
                <a:spcPct val="100000"/>
              </a:lnSpc>
            </a:pPr>
            <a:r>
              <a:rPr lang="en-IN" sz="2000" dirty="0">
                <a:latin typeface="Arial" panose="020B0604020202020204" pitchFamily="34" charset="0"/>
                <a:cs typeface="Arial" panose="020B0604020202020204" pitchFamily="34" charset="0"/>
              </a:rPr>
              <a:t>Multiple classification models are generated, trained, and evaluated using performance metrics such as accuracy, precision, recall, and F1-score to determine the best-performing model for machine failure prediction.</a:t>
            </a:r>
          </a:p>
          <a:p>
            <a:pPr algn="just">
              <a:lnSpc>
                <a:spcPct val="100000"/>
              </a:lnSpc>
            </a:pPr>
            <a:r>
              <a:rPr lang="en-IN" sz="2000" dirty="0">
                <a:latin typeface="Arial" panose="020B0604020202020204" pitchFamily="34" charset="0"/>
                <a:cs typeface="Arial" panose="020B0604020202020204" pitchFamily="34" charset="0"/>
              </a:rPr>
              <a:t>The selected model is deployed as an online deployment on IBM Cloud, enabling users to provide new machine sensor values and receive real-time predictions indicating whether the machine is operating normally or is likely to experience a specific failure type. This intelligent solution helps industries perform proactive maintenance, minimize unexpected equipment failures, reduce maintenance costs, and improve overall operational efficiency.</a:t>
            </a:r>
          </a:p>
          <a:p>
            <a:pPr>
              <a:lnSpc>
                <a:spcPct val="100000"/>
              </a:lnSpc>
            </a:pPr>
            <a:endParaRPr lang="en-IN" sz="2000" dirty="0"/>
          </a:p>
        </p:txBody>
      </p:sp>
    </p:spTree>
    <p:extLst>
      <p:ext uri="{BB962C8B-B14F-4D97-AF65-F5344CB8AC3E}">
        <p14:creationId xmlns:p14="http://schemas.microsoft.com/office/powerpoint/2010/main" val="3118560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C48F1-E5DA-5F65-06B5-AC8A60A494A1}"/>
              </a:ext>
            </a:extLst>
          </p:cNvPr>
          <p:cNvSpPr>
            <a:spLocks noGrp="1"/>
          </p:cNvSpPr>
          <p:nvPr>
            <p:ph type="title"/>
          </p:nvPr>
        </p:nvSpPr>
        <p:spPr>
          <a:xfrm>
            <a:off x="730045" y="86677"/>
            <a:ext cx="10515600" cy="1325563"/>
          </a:xfrm>
        </p:spPr>
        <p:txBody>
          <a:bodyPr>
            <a:normAutofit/>
          </a:bodyPr>
          <a:lstStyle/>
          <a:p>
            <a:r>
              <a:rPr lang="en-IN" sz="2800" b="1" dirty="0">
                <a:solidFill>
                  <a:srgbClr val="FF0000"/>
                </a:solidFill>
                <a:latin typeface="Arial" panose="020B0604020202020204" pitchFamily="34" charset="0"/>
                <a:cs typeface="Arial" panose="020B0604020202020204" pitchFamily="34" charset="0"/>
              </a:rPr>
              <a:t>Technology Used</a:t>
            </a:r>
          </a:p>
        </p:txBody>
      </p:sp>
      <p:sp>
        <p:nvSpPr>
          <p:cNvPr id="3" name="Content Placeholder 2">
            <a:extLst>
              <a:ext uri="{FF2B5EF4-FFF2-40B4-BE49-F238E27FC236}">
                <a16:creationId xmlns:a16="http://schemas.microsoft.com/office/drawing/2014/main" id="{731A16B8-FD26-0118-E2B6-E783FD8D85BF}"/>
              </a:ext>
            </a:extLst>
          </p:cNvPr>
          <p:cNvSpPr>
            <a:spLocks noGrp="1"/>
          </p:cNvSpPr>
          <p:nvPr>
            <p:ph idx="1"/>
          </p:nvPr>
        </p:nvSpPr>
        <p:spPr>
          <a:xfrm>
            <a:off x="621890" y="1168400"/>
            <a:ext cx="10623755" cy="4764723"/>
          </a:xfrm>
        </p:spPr>
        <p:txBody>
          <a:bodyPr>
            <a:normAutofit fontScale="25000" lnSpcReduction="20000"/>
          </a:bodyPr>
          <a:lstStyle/>
          <a:p>
            <a:pPr algn="just">
              <a:lnSpc>
                <a:spcPct val="120000"/>
              </a:lnSpc>
            </a:pPr>
            <a:r>
              <a:rPr lang="en-IN" sz="8000" b="1" dirty="0">
                <a:latin typeface="Arial" panose="020B0604020202020204" pitchFamily="34" charset="0"/>
                <a:cs typeface="Arial" panose="020B0604020202020204" pitchFamily="34" charset="0"/>
              </a:rPr>
              <a:t>IBM Cloud </a:t>
            </a:r>
            <a:r>
              <a:rPr lang="en-IN" sz="8000" dirty="0">
                <a:latin typeface="Arial" panose="020B0604020202020204" pitchFamily="34" charset="0"/>
                <a:cs typeface="Arial" panose="020B0604020202020204" pitchFamily="34" charset="0"/>
              </a:rPr>
              <a:t>– It provides the infrastructure to build, train, deploy, and manage the predictive maintenance solution efficiently. IBM Cloud offers a secure, reliable, and scalable platform for machine learning model development and online deployment.</a:t>
            </a:r>
          </a:p>
          <a:p>
            <a:pPr algn="just">
              <a:lnSpc>
                <a:spcPct val="120000"/>
              </a:lnSpc>
            </a:pPr>
            <a:r>
              <a:rPr lang="en-IN" sz="8000" b="1" dirty="0">
                <a:latin typeface="Arial" panose="020B0604020202020204" pitchFamily="34" charset="0"/>
                <a:cs typeface="Arial" panose="020B0604020202020204" pitchFamily="34" charset="0"/>
              </a:rPr>
              <a:t>IBM watsonx.ai Studio </a:t>
            </a:r>
            <a:r>
              <a:rPr lang="en-IN" sz="8000" dirty="0">
                <a:latin typeface="Arial" panose="020B0604020202020204" pitchFamily="34" charset="0"/>
                <a:cs typeface="Arial" panose="020B0604020202020204" pitchFamily="34" charset="0"/>
              </a:rPr>
              <a:t>– Used to build the machine learning solution, manage datasets, perform </a:t>
            </a:r>
            <a:r>
              <a:rPr lang="en-IN" sz="8000" dirty="0" err="1">
                <a:latin typeface="Arial" panose="020B0604020202020204" pitchFamily="34" charset="0"/>
                <a:cs typeface="Arial" panose="020B0604020202020204" pitchFamily="34" charset="0"/>
              </a:rPr>
              <a:t>AutoAI</a:t>
            </a:r>
            <a:r>
              <a:rPr lang="en-IN" sz="8000" dirty="0">
                <a:latin typeface="Arial" panose="020B0604020202020204" pitchFamily="34" charset="0"/>
                <a:cs typeface="Arial" panose="020B0604020202020204" pitchFamily="34" charset="0"/>
              </a:rPr>
              <a:t> experiments, and evaluate multiple machine learning models.</a:t>
            </a:r>
          </a:p>
          <a:p>
            <a:pPr algn="just">
              <a:lnSpc>
                <a:spcPct val="120000"/>
              </a:lnSpc>
            </a:pPr>
            <a:r>
              <a:rPr lang="en-IN" sz="8000" b="1" dirty="0">
                <a:latin typeface="Arial" panose="020B0604020202020204" pitchFamily="34" charset="0"/>
                <a:cs typeface="Arial" panose="020B0604020202020204" pitchFamily="34" charset="0"/>
              </a:rPr>
              <a:t>IBM </a:t>
            </a:r>
            <a:r>
              <a:rPr lang="en-IN" sz="8000" b="1" dirty="0" err="1">
                <a:latin typeface="Arial" panose="020B0604020202020204" pitchFamily="34" charset="0"/>
                <a:cs typeface="Arial" panose="020B0604020202020204" pitchFamily="34" charset="0"/>
              </a:rPr>
              <a:t>AutoAI</a:t>
            </a:r>
            <a:r>
              <a:rPr lang="en-IN" sz="8000" b="1" dirty="0">
                <a:latin typeface="Arial" panose="020B0604020202020204" pitchFamily="34" charset="0"/>
                <a:cs typeface="Arial" panose="020B0604020202020204" pitchFamily="34" charset="0"/>
              </a:rPr>
              <a:t> </a:t>
            </a:r>
            <a:r>
              <a:rPr lang="en-IN" sz="8000" dirty="0">
                <a:latin typeface="Arial" panose="020B0604020202020204" pitchFamily="34" charset="0"/>
                <a:cs typeface="Arial" panose="020B0604020202020204" pitchFamily="34" charset="0"/>
              </a:rPr>
              <a:t>– Automatically performs data preprocessing, feature engineering, algorithm selection, model training, hyperparameter optimization, and identifies the best-performing machine learning model.</a:t>
            </a:r>
          </a:p>
          <a:p>
            <a:pPr algn="just">
              <a:lnSpc>
                <a:spcPct val="120000"/>
              </a:lnSpc>
            </a:pPr>
            <a:r>
              <a:rPr lang="en-IN" sz="8000" b="1" dirty="0">
                <a:latin typeface="Arial" panose="020B0604020202020204" pitchFamily="34" charset="0"/>
                <a:cs typeface="Arial" panose="020B0604020202020204" pitchFamily="34" charset="0"/>
              </a:rPr>
              <a:t>ML Algorithm / Model Used:</a:t>
            </a:r>
            <a:r>
              <a:rPr lang="en-IN" sz="8000" dirty="0">
                <a:latin typeface="Arial" panose="020B0604020202020204" pitchFamily="34" charset="0"/>
                <a:cs typeface="Arial" panose="020B0604020202020204" pitchFamily="34" charset="0"/>
              </a:rPr>
              <a:t> </a:t>
            </a:r>
            <a:r>
              <a:rPr lang="en-IN" sz="8000" u="sng" dirty="0">
                <a:latin typeface="Arial" panose="020B0604020202020204" pitchFamily="34" charset="0"/>
                <a:cs typeface="Arial" panose="020B0604020202020204" pitchFamily="34" charset="0"/>
              </a:rPr>
              <a:t>Snap Random Forest Classifier (Best Model selected by IBM </a:t>
            </a:r>
            <a:r>
              <a:rPr lang="en-IN" sz="8000" u="sng" dirty="0" err="1">
                <a:latin typeface="Arial" panose="020B0604020202020204" pitchFamily="34" charset="0"/>
                <a:cs typeface="Arial" panose="020B0604020202020204" pitchFamily="34" charset="0"/>
              </a:rPr>
              <a:t>AutoAI</a:t>
            </a:r>
            <a:r>
              <a:rPr lang="en-IN" sz="8000" u="sng" dirty="0">
                <a:latin typeface="Arial" panose="020B0604020202020204" pitchFamily="34" charset="0"/>
                <a:cs typeface="Arial" panose="020B0604020202020204" pitchFamily="34" charset="0"/>
              </a:rPr>
              <a:t>)</a:t>
            </a:r>
          </a:p>
          <a:p>
            <a:pPr algn="just">
              <a:lnSpc>
                <a:spcPct val="120000"/>
              </a:lnSpc>
            </a:pPr>
            <a:r>
              <a:rPr lang="en-IN" sz="8000" b="1" dirty="0">
                <a:latin typeface="Arial" panose="020B0604020202020204" pitchFamily="34" charset="0"/>
                <a:cs typeface="Arial" panose="020B0604020202020204" pitchFamily="34" charset="0"/>
              </a:rPr>
              <a:t>Accuracy Obtained: </a:t>
            </a:r>
            <a:r>
              <a:rPr lang="en-IN" sz="8000" u="sng" dirty="0">
                <a:latin typeface="Arial" panose="020B0604020202020204" pitchFamily="34" charset="0"/>
                <a:cs typeface="Arial" panose="020B0604020202020204" pitchFamily="34" charset="0"/>
              </a:rPr>
              <a:t>99.6% (Holdout Accuracy)</a:t>
            </a:r>
          </a:p>
          <a:p>
            <a:pPr>
              <a:lnSpc>
                <a:spcPct val="120000"/>
              </a:lnSpc>
            </a:pPr>
            <a:r>
              <a:rPr lang="en-IN" sz="8000" b="1" dirty="0">
                <a:latin typeface="Arial" panose="020B0604020202020204" pitchFamily="34" charset="0"/>
                <a:cs typeface="Arial" panose="020B0604020202020204" pitchFamily="34" charset="0"/>
              </a:rPr>
              <a:t>Enhancements and Hyperparameter Tuning:</a:t>
            </a:r>
            <a:br>
              <a:rPr lang="en-IN" sz="8000" dirty="0">
                <a:latin typeface="Arial" panose="020B0604020202020204" pitchFamily="34" charset="0"/>
                <a:cs typeface="Arial" panose="020B0604020202020204" pitchFamily="34" charset="0"/>
              </a:rPr>
            </a:br>
            <a:r>
              <a:rPr lang="en-IN" sz="8000" dirty="0">
                <a:latin typeface="Arial" panose="020B0604020202020204" pitchFamily="34" charset="0"/>
                <a:cs typeface="Arial" panose="020B0604020202020204" pitchFamily="34" charset="0"/>
              </a:rPr>
              <a:t>Performed automatically by IBM </a:t>
            </a:r>
            <a:r>
              <a:rPr lang="en-IN" sz="8000" dirty="0" err="1">
                <a:latin typeface="Arial" panose="020B0604020202020204" pitchFamily="34" charset="0"/>
                <a:cs typeface="Arial" panose="020B0604020202020204" pitchFamily="34" charset="0"/>
              </a:rPr>
              <a:t>AutoAI</a:t>
            </a:r>
            <a:r>
              <a:rPr lang="en-IN" sz="8000" dirty="0">
                <a:latin typeface="Arial" panose="020B0604020202020204" pitchFamily="34" charset="0"/>
                <a:cs typeface="Arial" panose="020B0604020202020204" pitchFamily="34" charset="0"/>
              </a:rPr>
              <a:t>, including automated data preprocessing, feature engineering, algorithm comparison, hyperparameter optimization (HPO), and model ranking to select the optimal model for deployment.</a:t>
            </a:r>
          </a:p>
          <a:p>
            <a:endParaRPr lang="en-IN" dirty="0"/>
          </a:p>
        </p:txBody>
      </p:sp>
    </p:spTree>
    <p:extLst>
      <p:ext uri="{BB962C8B-B14F-4D97-AF65-F5344CB8AC3E}">
        <p14:creationId xmlns:p14="http://schemas.microsoft.com/office/powerpoint/2010/main" val="1121421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6E7C01B-4DEA-9A6F-75C9-8B638794D7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7255" y="798513"/>
            <a:ext cx="8160889" cy="4351337"/>
          </a:xfrm>
          <a:prstGeom prst="rect">
            <a:avLst/>
          </a:prstGeom>
        </p:spPr>
      </p:pic>
      <p:pic>
        <p:nvPicPr>
          <p:cNvPr id="7" name="Picture 6">
            <a:extLst>
              <a:ext uri="{FF2B5EF4-FFF2-40B4-BE49-F238E27FC236}">
                <a16:creationId xmlns:a16="http://schemas.microsoft.com/office/drawing/2014/main" id="{01503F4F-F2F0-1458-5C83-27F6219F9D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594" y="808345"/>
            <a:ext cx="10785987" cy="5051681"/>
          </a:xfrm>
          <a:prstGeom prst="rect">
            <a:avLst/>
          </a:prstGeom>
        </p:spPr>
      </p:pic>
    </p:spTree>
    <p:extLst>
      <p:ext uri="{BB962C8B-B14F-4D97-AF65-F5344CB8AC3E}">
        <p14:creationId xmlns:p14="http://schemas.microsoft.com/office/powerpoint/2010/main" val="3716172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16E09A0-37E7-9FEF-663A-E17934985F97}"/>
              </a:ext>
            </a:extLst>
          </p:cNvPr>
          <p:cNvPicPr>
            <a:picLocks noGrp="1" noChangeAspect="1"/>
          </p:cNvPicPr>
          <p:nvPr>
            <p:ph idx="1"/>
          </p:nvPr>
        </p:nvPicPr>
        <p:blipFill>
          <a:blip r:embed="rId2"/>
          <a:stretch>
            <a:fillRect/>
          </a:stretch>
        </p:blipFill>
        <p:spPr>
          <a:xfrm>
            <a:off x="732503" y="955198"/>
            <a:ext cx="10515600" cy="4947603"/>
          </a:xfrm>
          <a:prstGeom prst="rect">
            <a:avLst/>
          </a:prstGeom>
        </p:spPr>
      </p:pic>
    </p:spTree>
    <p:extLst>
      <p:ext uri="{BB962C8B-B14F-4D97-AF65-F5344CB8AC3E}">
        <p14:creationId xmlns:p14="http://schemas.microsoft.com/office/powerpoint/2010/main" val="3762091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44AF53E-ACDA-84CF-D329-31E247F2F6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7420" y="648929"/>
            <a:ext cx="10380405" cy="5331389"/>
          </a:xfrm>
          <a:prstGeom prst="rect">
            <a:avLst/>
          </a:prstGeom>
        </p:spPr>
      </p:pic>
    </p:spTree>
    <p:extLst>
      <p:ext uri="{BB962C8B-B14F-4D97-AF65-F5344CB8AC3E}">
        <p14:creationId xmlns:p14="http://schemas.microsoft.com/office/powerpoint/2010/main" val="2108108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D5C60DA-220C-D204-0487-4969505C1F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4232" y="658761"/>
            <a:ext cx="10166555" cy="5518202"/>
          </a:xfrm>
          <a:prstGeom prst="rect">
            <a:avLst/>
          </a:prstGeom>
        </p:spPr>
      </p:pic>
    </p:spTree>
    <p:extLst>
      <p:ext uri="{BB962C8B-B14F-4D97-AF65-F5344CB8AC3E}">
        <p14:creationId xmlns:p14="http://schemas.microsoft.com/office/powerpoint/2010/main" val="1890080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CEA1E9C-B07F-204E-6132-52C37E4C19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6916" y="668594"/>
            <a:ext cx="10422194" cy="5351053"/>
          </a:xfrm>
          <a:prstGeom prst="rect">
            <a:avLst/>
          </a:prstGeom>
        </p:spPr>
      </p:pic>
    </p:spTree>
    <p:extLst>
      <p:ext uri="{BB962C8B-B14F-4D97-AF65-F5344CB8AC3E}">
        <p14:creationId xmlns:p14="http://schemas.microsoft.com/office/powerpoint/2010/main" val="188896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FD72705-980F-F48C-D3A1-C1B7DDC0B2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7923" y="776748"/>
            <a:ext cx="10962967" cy="5400215"/>
          </a:xfrm>
          <a:prstGeom prst="rect">
            <a:avLst/>
          </a:prstGeom>
        </p:spPr>
      </p:pic>
    </p:spTree>
    <p:extLst>
      <p:ext uri="{BB962C8B-B14F-4D97-AF65-F5344CB8AC3E}">
        <p14:creationId xmlns:p14="http://schemas.microsoft.com/office/powerpoint/2010/main" val="1164042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49D7284-6382-EE6E-D185-6CA17F4817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4400" y="825910"/>
            <a:ext cx="10515599" cy="5351053"/>
          </a:xfrm>
          <a:prstGeom prst="rect">
            <a:avLst/>
          </a:prstGeom>
        </p:spPr>
      </p:pic>
    </p:spTree>
    <p:extLst>
      <p:ext uri="{BB962C8B-B14F-4D97-AF65-F5344CB8AC3E}">
        <p14:creationId xmlns:p14="http://schemas.microsoft.com/office/powerpoint/2010/main" val="3710509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BF12C44-F644-9C96-AE96-0C4423CD6D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776748"/>
            <a:ext cx="10665542" cy="5400215"/>
          </a:xfrm>
          <a:prstGeom prst="rect">
            <a:avLst/>
          </a:prstGeom>
        </p:spPr>
      </p:pic>
    </p:spTree>
    <p:extLst>
      <p:ext uri="{BB962C8B-B14F-4D97-AF65-F5344CB8AC3E}">
        <p14:creationId xmlns:p14="http://schemas.microsoft.com/office/powerpoint/2010/main" val="880923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9E935EC-FC5C-CF59-1F2E-A15330A1B0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6077" y="629263"/>
            <a:ext cx="10422194" cy="5515898"/>
          </a:xfrm>
          <a:prstGeom prst="rect">
            <a:avLst/>
          </a:prstGeom>
        </p:spPr>
      </p:pic>
    </p:spTree>
    <p:extLst>
      <p:ext uri="{BB962C8B-B14F-4D97-AF65-F5344CB8AC3E}">
        <p14:creationId xmlns:p14="http://schemas.microsoft.com/office/powerpoint/2010/main" val="26227192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A9BF8-2BAF-6B1C-69DF-9259FBADBF22}"/>
              </a:ext>
            </a:extLst>
          </p:cNvPr>
          <p:cNvSpPr>
            <a:spLocks noGrp="1"/>
          </p:cNvSpPr>
          <p:nvPr>
            <p:ph type="title"/>
          </p:nvPr>
        </p:nvSpPr>
        <p:spPr>
          <a:xfrm>
            <a:off x="838200" y="365125"/>
            <a:ext cx="10515600" cy="742315"/>
          </a:xfrm>
        </p:spPr>
        <p:txBody>
          <a:bodyPr>
            <a:normAutofit/>
          </a:bodyPr>
          <a:lstStyle/>
          <a:p>
            <a:r>
              <a:rPr lang="en-IN" sz="2800" b="1" dirty="0">
                <a:solidFill>
                  <a:srgbClr val="FF0000"/>
                </a:solidFill>
                <a:latin typeface="Arial" panose="020B0604020202020204" pitchFamily="34" charset="0"/>
                <a:cs typeface="Arial" panose="020B0604020202020204" pitchFamily="34" charset="0"/>
              </a:rPr>
              <a:t>Novelty and Uniqueness</a:t>
            </a:r>
          </a:p>
        </p:txBody>
      </p:sp>
      <p:sp>
        <p:nvSpPr>
          <p:cNvPr id="3" name="Content Placeholder 2">
            <a:extLst>
              <a:ext uri="{FF2B5EF4-FFF2-40B4-BE49-F238E27FC236}">
                <a16:creationId xmlns:a16="http://schemas.microsoft.com/office/drawing/2014/main" id="{2094CF0B-6363-384D-151E-62BECBDBC1F5}"/>
              </a:ext>
            </a:extLst>
          </p:cNvPr>
          <p:cNvSpPr>
            <a:spLocks noGrp="1"/>
          </p:cNvSpPr>
          <p:nvPr>
            <p:ph idx="1"/>
          </p:nvPr>
        </p:nvSpPr>
        <p:spPr>
          <a:xfrm>
            <a:off x="665480" y="1107439"/>
            <a:ext cx="10515600" cy="5385435"/>
          </a:xfrm>
        </p:spPr>
        <p:txBody>
          <a:bodyPr>
            <a:normAutofit lnSpcReduction="10000"/>
          </a:bodyPr>
          <a:lstStyle/>
          <a:p>
            <a:pPr algn="just">
              <a:lnSpc>
                <a:spcPct val="100000"/>
              </a:lnSpc>
            </a:pPr>
            <a:r>
              <a:rPr lang="en-IN" sz="2000" dirty="0">
                <a:latin typeface="Arial" panose="020B0604020202020204" pitchFamily="34" charset="0"/>
                <a:cs typeface="Arial" panose="020B0604020202020204" pitchFamily="34" charset="0"/>
              </a:rPr>
              <a:t>The solution automates industrial machine failure prediction, reducing unexpected equipment breakdowns and minimizing production downtime. </a:t>
            </a:r>
          </a:p>
          <a:p>
            <a:pPr algn="just">
              <a:lnSpc>
                <a:spcPct val="100000"/>
              </a:lnSpc>
            </a:pPr>
            <a:r>
              <a:rPr lang="en-IN" sz="2000" dirty="0">
                <a:latin typeface="Arial" panose="020B0604020202020204" pitchFamily="34" charset="0"/>
                <a:cs typeface="Arial" panose="020B0604020202020204" pitchFamily="34" charset="0"/>
              </a:rPr>
              <a:t>It uses IBM watsonx.ai </a:t>
            </a:r>
            <a:r>
              <a:rPr lang="en-IN" sz="2000" dirty="0" err="1">
                <a:latin typeface="Arial" panose="020B0604020202020204" pitchFamily="34" charset="0"/>
                <a:cs typeface="Arial" panose="020B0604020202020204" pitchFamily="34" charset="0"/>
              </a:rPr>
              <a:t>AutoAI</a:t>
            </a:r>
            <a:r>
              <a:rPr lang="en-IN" sz="2000" dirty="0">
                <a:latin typeface="Arial" panose="020B0604020202020204" pitchFamily="34" charset="0"/>
                <a:cs typeface="Arial" panose="020B0604020202020204" pitchFamily="34" charset="0"/>
              </a:rPr>
              <a:t> to automatically discover the best-performing machine learning model without requiring extensive manual coding or model selection. </a:t>
            </a:r>
          </a:p>
          <a:p>
            <a:pPr algn="just">
              <a:lnSpc>
                <a:spcPct val="100000"/>
              </a:lnSpc>
            </a:pPr>
            <a:r>
              <a:rPr lang="en-IN" sz="2000" dirty="0">
                <a:latin typeface="Arial" panose="020B0604020202020204" pitchFamily="34" charset="0"/>
                <a:cs typeface="Arial" panose="020B0604020202020204" pitchFamily="34" charset="0"/>
              </a:rPr>
              <a:t>The system accurately classifies machine operating conditions into multiple failure categories or normal operation through a single intelligent predictive maintenance platform. </a:t>
            </a:r>
          </a:p>
          <a:p>
            <a:pPr algn="just">
              <a:lnSpc>
                <a:spcPct val="100000"/>
              </a:lnSpc>
            </a:pPr>
            <a:r>
              <a:rPr lang="en-IN" sz="2000" dirty="0">
                <a:latin typeface="Arial" panose="020B0604020202020204" pitchFamily="34" charset="0"/>
                <a:cs typeface="Arial" panose="020B0604020202020204" pitchFamily="34" charset="0"/>
              </a:rPr>
              <a:t>Automated data preprocessing, feature engineering, and hyperparameter optimization help identify hidden patterns in machine sensor data, improving prediction performance. </a:t>
            </a:r>
          </a:p>
          <a:p>
            <a:pPr algn="just">
              <a:lnSpc>
                <a:spcPct val="100000"/>
              </a:lnSpc>
            </a:pPr>
            <a:r>
              <a:rPr lang="en-IN" sz="2000" dirty="0">
                <a:latin typeface="Arial" panose="020B0604020202020204" pitchFamily="34" charset="0"/>
                <a:cs typeface="Arial" panose="020B0604020202020204" pitchFamily="34" charset="0"/>
              </a:rPr>
              <a:t>The deployed model provides real-time predictions, enabling industries to perform proactive maintenance, reduce maintenance costs, and improve equipment reliability. </a:t>
            </a:r>
          </a:p>
          <a:p>
            <a:pPr algn="just">
              <a:lnSpc>
                <a:spcPct val="100000"/>
              </a:lnSpc>
            </a:pPr>
            <a:r>
              <a:rPr lang="en-IN" sz="2000" dirty="0">
                <a:latin typeface="Arial" panose="020B0604020202020204" pitchFamily="34" charset="0"/>
                <a:cs typeface="Arial" panose="020B0604020202020204" pitchFamily="34" charset="0"/>
              </a:rPr>
              <a:t>The solution supports data-driven maintenance decisions, minimizing human intervention and increasing consistency in failure detection. </a:t>
            </a:r>
          </a:p>
          <a:p>
            <a:pPr algn="just">
              <a:lnSpc>
                <a:spcPct val="100000"/>
              </a:lnSpc>
            </a:pPr>
            <a:r>
              <a:rPr lang="en-IN" sz="2000" dirty="0">
                <a:latin typeface="Arial" panose="020B0604020202020204" pitchFamily="34" charset="0"/>
                <a:cs typeface="Arial" panose="020B0604020202020204" pitchFamily="34" charset="0"/>
              </a:rPr>
              <a:t>The system is scalable and cloud-based, allowing organizations to integrate predictive maintenance into modern Industry 4.0 and IoT-enabled manufacturing environments.</a:t>
            </a:r>
          </a:p>
        </p:txBody>
      </p:sp>
    </p:spTree>
    <p:extLst>
      <p:ext uri="{BB962C8B-B14F-4D97-AF65-F5344CB8AC3E}">
        <p14:creationId xmlns:p14="http://schemas.microsoft.com/office/powerpoint/2010/main" val="1108963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FFDA-211A-122D-9949-0000B59C7BCA}"/>
              </a:ext>
            </a:extLst>
          </p:cNvPr>
          <p:cNvSpPr>
            <a:spLocks noGrp="1"/>
          </p:cNvSpPr>
          <p:nvPr>
            <p:ph type="title"/>
          </p:nvPr>
        </p:nvSpPr>
        <p:spPr>
          <a:xfrm>
            <a:off x="838200" y="681037"/>
            <a:ext cx="10515600" cy="1325563"/>
          </a:xfrm>
        </p:spPr>
        <p:txBody>
          <a:bodyPr/>
          <a:lstStyle/>
          <a:p>
            <a:r>
              <a:rPr lang="en-IN" sz="2800" b="1" dirty="0">
                <a:latin typeface="Arial"/>
                <a:cs typeface="Arial"/>
              </a:rPr>
              <a:t>Git</a:t>
            </a:r>
            <a:r>
              <a:rPr lang="en-IN" sz="2800" b="1" spc="-25" dirty="0">
                <a:latin typeface="Arial"/>
                <a:cs typeface="Arial"/>
              </a:rPr>
              <a:t> </a:t>
            </a:r>
            <a:r>
              <a:rPr lang="en-IN" sz="2800" b="1" dirty="0">
                <a:latin typeface="Arial"/>
                <a:cs typeface="Arial"/>
              </a:rPr>
              <a:t>Hub</a:t>
            </a:r>
            <a:r>
              <a:rPr lang="en-IN" sz="2800" b="1" spc="-55" dirty="0">
                <a:latin typeface="Arial"/>
                <a:cs typeface="Arial"/>
              </a:rPr>
              <a:t> </a:t>
            </a:r>
            <a:r>
              <a:rPr lang="en-IN" sz="2800" b="1" spc="-20" dirty="0">
                <a:latin typeface="Arial"/>
                <a:cs typeface="Arial"/>
              </a:rPr>
              <a:t>Link</a:t>
            </a:r>
            <a:br>
              <a:rPr lang="en-IN" dirty="0">
                <a:latin typeface="Arial"/>
                <a:cs typeface="Arial"/>
              </a:rPr>
            </a:br>
            <a:endParaRPr lang="en-IN" dirty="0"/>
          </a:p>
        </p:txBody>
      </p:sp>
      <p:sp>
        <p:nvSpPr>
          <p:cNvPr id="3" name="Content Placeholder 2">
            <a:extLst>
              <a:ext uri="{FF2B5EF4-FFF2-40B4-BE49-F238E27FC236}">
                <a16:creationId xmlns:a16="http://schemas.microsoft.com/office/drawing/2014/main" id="{3F81E828-25DE-FBB6-B786-383D9FC44904}"/>
              </a:ext>
            </a:extLst>
          </p:cNvPr>
          <p:cNvSpPr>
            <a:spLocks noGrp="1"/>
          </p:cNvSpPr>
          <p:nvPr>
            <p:ph idx="1"/>
          </p:nvPr>
        </p:nvSpPr>
        <p:spPr>
          <a:xfrm>
            <a:off x="583557" y="1478385"/>
            <a:ext cx="10515600" cy="4351338"/>
          </a:xfrm>
        </p:spPr>
        <p:txBody>
          <a:bodyPr>
            <a:noAutofit/>
          </a:bodyPr>
          <a:lstStyle/>
          <a:p>
            <a:pPr>
              <a:lnSpc>
                <a:spcPct val="100000"/>
              </a:lnSpc>
              <a:spcBef>
                <a:spcPts val="840"/>
              </a:spcBef>
            </a:pPr>
            <a:endParaRPr lang="en-IN" sz="2000" dirty="0">
              <a:latin typeface="Arial" panose="020B0604020202020204" pitchFamily="34" charset="0"/>
              <a:cs typeface="Arial" panose="020B0604020202020204" pitchFamily="34" charset="0"/>
            </a:endParaRPr>
          </a:p>
          <a:p>
            <a:pPr marL="614680">
              <a:lnSpc>
                <a:spcPct val="100000"/>
              </a:lnSpc>
              <a:spcBef>
                <a:spcPts val="1375"/>
              </a:spcBef>
            </a:pPr>
            <a:r>
              <a:rPr lang="en-IN" sz="2000" dirty="0">
                <a:solidFill>
                  <a:srgbClr val="2B3541"/>
                </a:solidFill>
                <a:latin typeface="Arial" panose="020B0604020202020204" pitchFamily="34" charset="0"/>
                <a:cs typeface="Arial" panose="020B0604020202020204" pitchFamily="34" charset="0"/>
              </a:rPr>
              <a:t>Please</a:t>
            </a:r>
            <a:r>
              <a:rPr lang="en-IN" sz="2000" spc="80"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create</a:t>
            </a:r>
            <a:r>
              <a:rPr lang="en-IN" sz="2000" spc="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public</a:t>
            </a:r>
            <a:r>
              <a:rPr lang="en-IN" sz="2000" spc="40" dirty="0">
                <a:solidFill>
                  <a:srgbClr val="2B3541"/>
                </a:solidFill>
                <a:latin typeface="Arial" panose="020B0604020202020204" pitchFamily="34" charset="0"/>
                <a:cs typeface="Arial" panose="020B0604020202020204" pitchFamily="34" charset="0"/>
              </a:rPr>
              <a:t> </a:t>
            </a:r>
            <a:r>
              <a:rPr lang="en-IN" sz="2000" dirty="0" err="1">
                <a:solidFill>
                  <a:srgbClr val="2B3541"/>
                </a:solidFill>
                <a:latin typeface="Arial" panose="020B0604020202020204" pitchFamily="34" charset="0"/>
                <a:cs typeface="Arial" panose="020B0604020202020204" pitchFamily="34" charset="0"/>
              </a:rPr>
              <a:t>github</a:t>
            </a:r>
            <a:r>
              <a:rPr lang="en-IN" sz="2000" spc="8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repository</a:t>
            </a:r>
            <a:r>
              <a:rPr lang="en-IN" sz="2000" spc="3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(Enable</a:t>
            </a:r>
            <a:r>
              <a:rPr lang="en-IN" sz="2000" spc="80"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Add</a:t>
            </a:r>
            <a:r>
              <a:rPr lang="en-IN" sz="2000" spc="3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README</a:t>
            </a:r>
            <a:r>
              <a:rPr lang="en-IN" sz="2000" spc="34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button</a:t>
            </a:r>
            <a:r>
              <a:rPr lang="en-IN" sz="2000" spc="110"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while</a:t>
            </a:r>
            <a:r>
              <a:rPr lang="en-IN" sz="2000" spc="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creating</a:t>
            </a:r>
            <a:r>
              <a:rPr lang="en-IN" sz="2000" spc="35" dirty="0">
                <a:solidFill>
                  <a:srgbClr val="2B3541"/>
                </a:solidFill>
                <a:latin typeface="Arial" panose="020B0604020202020204" pitchFamily="34" charset="0"/>
                <a:cs typeface="Arial" panose="020B0604020202020204" pitchFamily="34" charset="0"/>
              </a:rPr>
              <a:t> </a:t>
            </a:r>
            <a:r>
              <a:rPr lang="en-IN" sz="2000" spc="-10" dirty="0">
                <a:solidFill>
                  <a:srgbClr val="2B3541"/>
                </a:solidFill>
                <a:latin typeface="Arial" panose="020B0604020202020204" pitchFamily="34" charset="0"/>
                <a:cs typeface="Arial" panose="020B0604020202020204" pitchFamily="34" charset="0"/>
              </a:rPr>
              <a:t>repository)</a:t>
            </a:r>
            <a:endParaRPr lang="en-IN" sz="2000" dirty="0">
              <a:latin typeface="Arial" panose="020B0604020202020204" pitchFamily="34" charset="0"/>
              <a:cs typeface="Arial" panose="020B0604020202020204" pitchFamily="34" charset="0"/>
            </a:endParaRPr>
          </a:p>
          <a:p>
            <a:pPr marL="614680">
              <a:lnSpc>
                <a:spcPct val="100000"/>
              </a:lnSpc>
              <a:spcBef>
                <a:spcPts val="720"/>
              </a:spcBef>
            </a:pPr>
            <a:r>
              <a:rPr lang="en-IN" sz="2000" dirty="0">
                <a:solidFill>
                  <a:srgbClr val="2B3541"/>
                </a:solidFill>
                <a:latin typeface="Arial" panose="020B0604020202020204" pitchFamily="34" charset="0"/>
                <a:cs typeface="Arial" panose="020B0604020202020204" pitchFamily="34" charset="0"/>
              </a:rPr>
              <a:t>with</a:t>
            </a:r>
            <a:r>
              <a:rPr lang="en-IN" sz="2000" spc="20"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format</a:t>
            </a:r>
            <a:r>
              <a:rPr lang="en-IN" sz="2000" spc="75" dirty="0">
                <a:solidFill>
                  <a:srgbClr val="2B3541"/>
                </a:solidFill>
                <a:latin typeface="Arial" panose="020B0604020202020204" pitchFamily="34" charset="0"/>
                <a:cs typeface="Arial" panose="020B0604020202020204" pitchFamily="34" charset="0"/>
              </a:rPr>
              <a:t> </a:t>
            </a:r>
            <a:r>
              <a:rPr lang="en-IN" sz="2000" spc="-50" dirty="0">
                <a:solidFill>
                  <a:srgbClr val="2B3541"/>
                </a:solidFill>
                <a:latin typeface="Arial" panose="020B0604020202020204" pitchFamily="34" charset="0"/>
                <a:cs typeface="Arial" panose="020B0604020202020204" pitchFamily="34" charset="0"/>
              </a:rPr>
              <a:t>–</a:t>
            </a:r>
            <a:endParaRPr lang="en-IN" sz="2000" dirty="0">
              <a:latin typeface="Arial" panose="020B0604020202020204" pitchFamily="34" charset="0"/>
              <a:cs typeface="Arial" panose="020B0604020202020204" pitchFamily="34" charset="0"/>
            </a:endParaRPr>
          </a:p>
          <a:p>
            <a:pPr marL="614680">
              <a:lnSpc>
                <a:spcPct val="100000"/>
              </a:lnSpc>
              <a:spcBef>
                <a:spcPts val="725"/>
              </a:spcBef>
            </a:pPr>
            <a:r>
              <a:rPr lang="en-IN" sz="2000" dirty="0">
                <a:solidFill>
                  <a:srgbClr val="2B3541"/>
                </a:solidFill>
                <a:latin typeface="Arial" panose="020B0604020202020204" pitchFamily="34" charset="0"/>
                <a:cs typeface="Arial" panose="020B0604020202020204" pitchFamily="34" charset="0"/>
              </a:rPr>
              <a:t>Please</a:t>
            </a:r>
            <a:r>
              <a:rPr lang="en-IN" sz="2000" spc="6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test</a:t>
            </a:r>
            <a:r>
              <a:rPr lang="en-IN" sz="2000" spc="6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and</a:t>
            </a:r>
            <a:r>
              <a:rPr lang="en-IN" sz="2000" spc="1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Paste</a:t>
            </a:r>
            <a:r>
              <a:rPr lang="en-IN" sz="2000" spc="6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the</a:t>
            </a:r>
            <a:r>
              <a:rPr lang="en-IN" sz="2000" spc="-10"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working</a:t>
            </a:r>
            <a:r>
              <a:rPr lang="en-IN" sz="2000" spc="320" dirty="0">
                <a:solidFill>
                  <a:srgbClr val="2B3541"/>
                </a:solidFill>
                <a:latin typeface="Arial" panose="020B0604020202020204" pitchFamily="34" charset="0"/>
                <a:cs typeface="Arial" panose="020B0604020202020204" pitchFamily="34" charset="0"/>
              </a:rPr>
              <a:t> </a:t>
            </a:r>
            <a:r>
              <a:rPr lang="en-IN" sz="2000" dirty="0" err="1">
                <a:solidFill>
                  <a:srgbClr val="2B3541"/>
                </a:solidFill>
                <a:latin typeface="Arial" panose="020B0604020202020204" pitchFamily="34" charset="0"/>
                <a:cs typeface="Arial" panose="020B0604020202020204" pitchFamily="34" charset="0"/>
              </a:rPr>
              <a:t>Github</a:t>
            </a:r>
            <a:r>
              <a:rPr lang="en-IN" sz="2000" spc="40"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URL</a:t>
            </a:r>
            <a:r>
              <a:rPr lang="en-IN" sz="2000" spc="50" dirty="0">
                <a:solidFill>
                  <a:srgbClr val="2B3541"/>
                </a:solidFill>
                <a:latin typeface="Arial" panose="020B0604020202020204" pitchFamily="34" charset="0"/>
                <a:cs typeface="Arial" panose="020B0604020202020204" pitchFamily="34" charset="0"/>
              </a:rPr>
              <a:t> </a:t>
            </a:r>
            <a:r>
              <a:rPr lang="en-IN" sz="2000" spc="-50" dirty="0">
                <a:solidFill>
                  <a:srgbClr val="2B3541"/>
                </a:solidFill>
                <a:latin typeface="Arial" panose="020B0604020202020204" pitchFamily="34" charset="0"/>
                <a:cs typeface="Arial" panose="020B0604020202020204" pitchFamily="34" charset="0"/>
              </a:rPr>
              <a:t>–</a:t>
            </a:r>
            <a:endParaRPr lang="en-IN" sz="2000" dirty="0">
              <a:latin typeface="Arial" panose="020B0604020202020204" pitchFamily="34" charset="0"/>
              <a:cs typeface="Arial" panose="020B0604020202020204" pitchFamily="34" charset="0"/>
            </a:endParaRPr>
          </a:p>
          <a:p>
            <a:pPr marL="614680">
              <a:lnSpc>
                <a:spcPct val="100000"/>
              </a:lnSpc>
              <a:spcBef>
                <a:spcPts val="720"/>
              </a:spcBef>
            </a:pPr>
            <a:r>
              <a:rPr lang="en-IN" sz="2000" b="1" dirty="0">
                <a:solidFill>
                  <a:srgbClr val="2B3541"/>
                </a:solidFill>
                <a:latin typeface="Arial" panose="020B0604020202020204" pitchFamily="34" charset="0"/>
                <a:cs typeface="Arial" panose="020B0604020202020204" pitchFamily="34" charset="0"/>
              </a:rPr>
              <a:t>Make</a:t>
            </a:r>
            <a:r>
              <a:rPr lang="en-IN" sz="2000" b="1" spc="-15" dirty="0">
                <a:solidFill>
                  <a:srgbClr val="2B3541"/>
                </a:solidFill>
                <a:latin typeface="Arial" panose="020B0604020202020204" pitchFamily="34" charset="0"/>
                <a:cs typeface="Arial" panose="020B0604020202020204" pitchFamily="34" charset="0"/>
              </a:rPr>
              <a:t> </a:t>
            </a:r>
            <a:r>
              <a:rPr lang="en-IN" sz="2000" b="1" dirty="0">
                <a:solidFill>
                  <a:srgbClr val="2B3541"/>
                </a:solidFill>
                <a:latin typeface="Arial" panose="020B0604020202020204" pitchFamily="34" charset="0"/>
                <a:cs typeface="Arial" panose="020B0604020202020204" pitchFamily="34" charset="0"/>
              </a:rPr>
              <a:t>sure</a:t>
            </a:r>
            <a:r>
              <a:rPr lang="en-IN" sz="2000" b="1" spc="65" dirty="0">
                <a:solidFill>
                  <a:srgbClr val="2B3541"/>
                </a:solidFill>
                <a:latin typeface="Arial" panose="020B0604020202020204" pitchFamily="34" charset="0"/>
                <a:cs typeface="Arial" panose="020B0604020202020204" pitchFamily="34" charset="0"/>
              </a:rPr>
              <a:t> </a:t>
            </a:r>
            <a:r>
              <a:rPr lang="en-IN" sz="2000" b="1" dirty="0">
                <a:solidFill>
                  <a:srgbClr val="2B3541"/>
                </a:solidFill>
                <a:latin typeface="Arial" panose="020B0604020202020204" pitchFamily="34" charset="0"/>
                <a:cs typeface="Arial" panose="020B0604020202020204" pitchFamily="34" charset="0"/>
              </a:rPr>
              <a:t>you</a:t>
            </a:r>
            <a:r>
              <a:rPr lang="en-IN" sz="2000" b="1" spc="40" dirty="0">
                <a:solidFill>
                  <a:srgbClr val="2B3541"/>
                </a:solidFill>
                <a:latin typeface="Arial" panose="020B0604020202020204" pitchFamily="34" charset="0"/>
                <a:cs typeface="Arial" panose="020B0604020202020204" pitchFamily="34" charset="0"/>
              </a:rPr>
              <a:t> </a:t>
            </a:r>
            <a:r>
              <a:rPr lang="en-IN" sz="2000" b="1" dirty="0">
                <a:solidFill>
                  <a:srgbClr val="2B3541"/>
                </a:solidFill>
                <a:latin typeface="Arial" panose="020B0604020202020204" pitchFamily="34" charset="0"/>
                <a:cs typeface="Arial" panose="020B0604020202020204" pitchFamily="34" charset="0"/>
              </a:rPr>
              <a:t>have</a:t>
            </a:r>
            <a:r>
              <a:rPr lang="en-IN" sz="2000" b="1" spc="65" dirty="0">
                <a:solidFill>
                  <a:srgbClr val="2B3541"/>
                </a:solidFill>
                <a:latin typeface="Arial" panose="020B0604020202020204" pitchFamily="34" charset="0"/>
                <a:cs typeface="Arial" panose="020B0604020202020204" pitchFamily="34" charset="0"/>
              </a:rPr>
              <a:t> </a:t>
            </a:r>
            <a:r>
              <a:rPr lang="en-IN" sz="2000" b="1" dirty="0">
                <a:solidFill>
                  <a:srgbClr val="2B3541"/>
                </a:solidFill>
                <a:latin typeface="Arial" panose="020B0604020202020204" pitchFamily="34" charset="0"/>
                <a:cs typeface="Arial" panose="020B0604020202020204" pitchFamily="34" charset="0"/>
              </a:rPr>
              <a:t>Uploaded</a:t>
            </a:r>
            <a:r>
              <a:rPr lang="en-IN" sz="2000" b="1" spc="40" dirty="0">
                <a:solidFill>
                  <a:srgbClr val="2B3541"/>
                </a:solidFill>
                <a:latin typeface="Arial" panose="020B0604020202020204" pitchFamily="34" charset="0"/>
                <a:cs typeface="Arial" panose="020B0604020202020204" pitchFamily="34" charset="0"/>
              </a:rPr>
              <a:t> </a:t>
            </a:r>
            <a:r>
              <a:rPr lang="en-IN" sz="2000" b="1" dirty="0">
                <a:solidFill>
                  <a:srgbClr val="2B3541"/>
                </a:solidFill>
                <a:latin typeface="Arial" panose="020B0604020202020204" pitchFamily="34" charset="0"/>
                <a:cs typeface="Arial" panose="020B0604020202020204" pitchFamily="34" charset="0"/>
              </a:rPr>
              <a:t>following</a:t>
            </a:r>
            <a:r>
              <a:rPr lang="en-IN" sz="2000" b="1" spc="15" dirty="0">
                <a:solidFill>
                  <a:srgbClr val="2B3541"/>
                </a:solidFill>
                <a:latin typeface="Arial" panose="020B0604020202020204" pitchFamily="34" charset="0"/>
                <a:cs typeface="Arial" panose="020B0604020202020204" pitchFamily="34" charset="0"/>
              </a:rPr>
              <a:t> </a:t>
            </a:r>
            <a:r>
              <a:rPr lang="en-IN" sz="2000" b="1" dirty="0">
                <a:solidFill>
                  <a:srgbClr val="2B3541"/>
                </a:solidFill>
                <a:latin typeface="Arial" panose="020B0604020202020204" pitchFamily="34" charset="0"/>
                <a:cs typeface="Arial" panose="020B0604020202020204" pitchFamily="34" charset="0"/>
              </a:rPr>
              <a:t>three</a:t>
            </a:r>
            <a:r>
              <a:rPr lang="en-IN" sz="2000" b="1" spc="65" dirty="0">
                <a:solidFill>
                  <a:srgbClr val="2B3541"/>
                </a:solidFill>
                <a:latin typeface="Arial" panose="020B0604020202020204" pitchFamily="34" charset="0"/>
                <a:cs typeface="Arial" panose="020B0604020202020204" pitchFamily="34" charset="0"/>
              </a:rPr>
              <a:t> </a:t>
            </a:r>
            <a:r>
              <a:rPr lang="en-IN" sz="2000" b="1" dirty="0">
                <a:solidFill>
                  <a:srgbClr val="2B3541"/>
                </a:solidFill>
                <a:latin typeface="Arial" panose="020B0604020202020204" pitchFamily="34" charset="0"/>
                <a:cs typeface="Arial" panose="020B0604020202020204" pitchFamily="34" charset="0"/>
              </a:rPr>
              <a:t>files</a:t>
            </a:r>
            <a:r>
              <a:rPr lang="en-IN" sz="2000" b="1" spc="40" dirty="0">
                <a:solidFill>
                  <a:srgbClr val="2B3541"/>
                </a:solidFill>
                <a:latin typeface="Arial" panose="020B0604020202020204" pitchFamily="34" charset="0"/>
                <a:cs typeface="Arial" panose="020B0604020202020204" pitchFamily="34" charset="0"/>
              </a:rPr>
              <a:t> </a:t>
            </a:r>
            <a:r>
              <a:rPr lang="en-IN" sz="2000" b="1" dirty="0">
                <a:solidFill>
                  <a:srgbClr val="2B3541"/>
                </a:solidFill>
                <a:latin typeface="Arial" panose="020B0604020202020204" pitchFamily="34" charset="0"/>
                <a:cs typeface="Arial" panose="020B0604020202020204" pitchFamily="34" charset="0"/>
              </a:rPr>
              <a:t>into</a:t>
            </a:r>
            <a:r>
              <a:rPr lang="en-IN" sz="2000" b="1" spc="15" dirty="0">
                <a:solidFill>
                  <a:srgbClr val="2B3541"/>
                </a:solidFill>
                <a:latin typeface="Arial" panose="020B0604020202020204" pitchFamily="34" charset="0"/>
                <a:cs typeface="Arial" panose="020B0604020202020204" pitchFamily="34" charset="0"/>
              </a:rPr>
              <a:t> </a:t>
            </a:r>
            <a:r>
              <a:rPr lang="en-IN" sz="2000" b="1" dirty="0">
                <a:solidFill>
                  <a:srgbClr val="2B3541"/>
                </a:solidFill>
                <a:latin typeface="Arial" panose="020B0604020202020204" pitchFamily="34" charset="0"/>
                <a:cs typeface="Arial" panose="020B0604020202020204" pitchFamily="34" charset="0"/>
              </a:rPr>
              <a:t>your</a:t>
            </a:r>
            <a:r>
              <a:rPr lang="en-IN" sz="2000" b="1" spc="100" dirty="0">
                <a:solidFill>
                  <a:srgbClr val="2B3541"/>
                </a:solidFill>
                <a:latin typeface="Arial" panose="020B0604020202020204" pitchFamily="34" charset="0"/>
                <a:cs typeface="Arial" panose="020B0604020202020204" pitchFamily="34" charset="0"/>
              </a:rPr>
              <a:t> </a:t>
            </a:r>
            <a:r>
              <a:rPr lang="en-IN" sz="2000" b="1" dirty="0" err="1">
                <a:solidFill>
                  <a:srgbClr val="2B3541"/>
                </a:solidFill>
                <a:latin typeface="Arial" panose="020B0604020202020204" pitchFamily="34" charset="0"/>
                <a:cs typeface="Arial" panose="020B0604020202020204" pitchFamily="34" charset="0"/>
              </a:rPr>
              <a:t>github</a:t>
            </a:r>
            <a:r>
              <a:rPr lang="en-IN" sz="2000" b="1" spc="65" dirty="0">
                <a:solidFill>
                  <a:srgbClr val="2B3541"/>
                </a:solidFill>
                <a:latin typeface="Arial" panose="020B0604020202020204" pitchFamily="34" charset="0"/>
                <a:cs typeface="Arial" panose="020B0604020202020204" pitchFamily="34" charset="0"/>
              </a:rPr>
              <a:t> </a:t>
            </a:r>
            <a:r>
              <a:rPr lang="en-IN" sz="2000" b="1" spc="-10" dirty="0">
                <a:solidFill>
                  <a:srgbClr val="2B3541"/>
                </a:solidFill>
                <a:latin typeface="Arial" panose="020B0604020202020204" pitchFamily="34" charset="0"/>
                <a:cs typeface="Arial" panose="020B0604020202020204" pitchFamily="34" charset="0"/>
              </a:rPr>
              <a:t>repository</a:t>
            </a:r>
            <a:endParaRPr lang="en-IN" sz="2000" dirty="0">
              <a:latin typeface="Arial" panose="020B0604020202020204" pitchFamily="34" charset="0"/>
              <a:cs typeface="Arial" panose="020B0604020202020204" pitchFamily="34" charset="0"/>
            </a:endParaRPr>
          </a:p>
          <a:p>
            <a:pPr marL="614680">
              <a:lnSpc>
                <a:spcPct val="100000"/>
              </a:lnSpc>
              <a:spcBef>
                <a:spcPts val="720"/>
              </a:spcBef>
            </a:pPr>
            <a:r>
              <a:rPr lang="en-IN" sz="2000" dirty="0">
                <a:solidFill>
                  <a:srgbClr val="2B3541"/>
                </a:solidFill>
                <a:latin typeface="Arial" panose="020B0604020202020204" pitchFamily="34" charset="0"/>
                <a:cs typeface="Arial" panose="020B0604020202020204" pitchFamily="34" charset="0"/>
              </a:rPr>
              <a:t>1)</a:t>
            </a:r>
            <a:r>
              <a:rPr lang="en-IN" sz="2000" spc="1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Data.csv</a:t>
            </a:r>
            <a:r>
              <a:rPr lang="en-IN" sz="2000" spc="6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file,</a:t>
            </a:r>
            <a:r>
              <a:rPr lang="en-IN" sz="2000" spc="10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2)</a:t>
            </a:r>
            <a:r>
              <a:rPr lang="en-IN" sz="2000" spc="2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yourproblemstatement.pdf</a:t>
            </a:r>
            <a:r>
              <a:rPr lang="en-IN" sz="2000" spc="10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file</a:t>
            </a:r>
            <a:r>
              <a:rPr lang="en-IN" sz="2000" spc="340"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3)</a:t>
            </a:r>
            <a:r>
              <a:rPr lang="en-IN" sz="2000" spc="2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your</a:t>
            </a:r>
            <a:r>
              <a:rPr lang="en-IN" sz="2000" spc="20"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project</a:t>
            </a:r>
            <a:r>
              <a:rPr lang="en-IN" sz="2000" spc="-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presntation.pptx</a:t>
            </a:r>
            <a:r>
              <a:rPr lang="en-IN" sz="2000" spc="30"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file</a:t>
            </a:r>
            <a:r>
              <a:rPr lang="en-IN" sz="2000" spc="80"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4)</a:t>
            </a:r>
            <a:r>
              <a:rPr lang="en-IN" sz="2000" spc="25" dirty="0">
                <a:solidFill>
                  <a:srgbClr val="2B3541"/>
                </a:solidFill>
                <a:latin typeface="Arial" panose="020B0604020202020204" pitchFamily="34" charset="0"/>
                <a:cs typeface="Arial" panose="020B0604020202020204" pitchFamily="34" charset="0"/>
              </a:rPr>
              <a:t> </a:t>
            </a:r>
            <a:r>
              <a:rPr lang="en-IN" sz="2000" spc="-10" dirty="0">
                <a:solidFill>
                  <a:srgbClr val="2B3541"/>
                </a:solidFill>
                <a:latin typeface="Arial" panose="020B0604020202020204" pitchFamily="34" charset="0"/>
                <a:cs typeface="Arial" panose="020B0604020202020204" pitchFamily="34" charset="0"/>
              </a:rPr>
              <a:t>Python</a:t>
            </a:r>
            <a:endParaRPr lang="en-IN" sz="2000" dirty="0">
              <a:latin typeface="Arial" panose="020B0604020202020204" pitchFamily="34" charset="0"/>
              <a:cs typeface="Arial" panose="020B0604020202020204" pitchFamily="34" charset="0"/>
            </a:endParaRPr>
          </a:p>
          <a:p>
            <a:pPr marL="614680">
              <a:lnSpc>
                <a:spcPct val="100000"/>
              </a:lnSpc>
              <a:spcBef>
                <a:spcPts val="725"/>
              </a:spcBef>
            </a:pPr>
            <a:r>
              <a:rPr lang="en-IN" sz="2000" spc="-37" baseline="18518" dirty="0">
                <a:solidFill>
                  <a:srgbClr val="2B3541"/>
                </a:solidFill>
                <a:latin typeface="Arial" panose="020B0604020202020204" pitchFamily="34" charset="0"/>
                <a:cs typeface="Arial" panose="020B0604020202020204" pitchFamily="34" charset="0"/>
              </a:rPr>
              <a:t>·</a:t>
            </a:r>
            <a:r>
              <a:rPr lang="en-IN" sz="2000" spc="-25" dirty="0">
                <a:solidFill>
                  <a:srgbClr val="2B3541"/>
                </a:solidFill>
                <a:latin typeface="Arial" panose="020B0604020202020204" pitchFamily="34" charset="0"/>
                <a:cs typeface="Arial" panose="020B0604020202020204" pitchFamily="34" charset="0"/>
              </a:rPr>
              <a:t>Notebook</a:t>
            </a:r>
            <a:r>
              <a:rPr lang="en-IN" sz="2000" spc="5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downloaded</a:t>
            </a:r>
            <a:r>
              <a:rPr lang="en-IN" sz="2000" spc="60"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from</a:t>
            </a:r>
            <a:r>
              <a:rPr lang="en-IN" sz="2000" spc="25" dirty="0">
                <a:solidFill>
                  <a:srgbClr val="2B3541"/>
                </a:solidFill>
                <a:latin typeface="Arial" panose="020B0604020202020204" pitchFamily="34" charset="0"/>
                <a:cs typeface="Arial" panose="020B0604020202020204" pitchFamily="34" charset="0"/>
              </a:rPr>
              <a:t> </a:t>
            </a:r>
            <a:r>
              <a:rPr lang="en-IN" sz="2000" dirty="0">
                <a:solidFill>
                  <a:srgbClr val="2B3541"/>
                </a:solidFill>
                <a:latin typeface="Arial" panose="020B0604020202020204" pitchFamily="34" charset="0"/>
                <a:cs typeface="Arial" panose="020B0604020202020204" pitchFamily="34" charset="0"/>
              </a:rPr>
              <a:t>IBM</a:t>
            </a:r>
            <a:r>
              <a:rPr lang="en-IN" sz="2000" spc="85" dirty="0">
                <a:solidFill>
                  <a:srgbClr val="2B3541"/>
                </a:solidFill>
                <a:latin typeface="Arial" panose="020B0604020202020204" pitchFamily="34" charset="0"/>
                <a:cs typeface="Arial" panose="020B0604020202020204" pitchFamily="34" charset="0"/>
              </a:rPr>
              <a:t> </a:t>
            </a:r>
            <a:r>
              <a:rPr lang="en-IN" sz="2000" spc="-20" dirty="0">
                <a:solidFill>
                  <a:srgbClr val="2B3541"/>
                </a:solidFill>
                <a:latin typeface="Arial" panose="020B0604020202020204" pitchFamily="34" charset="0"/>
                <a:cs typeface="Arial" panose="020B0604020202020204" pitchFamily="34" charset="0"/>
              </a:rPr>
              <a:t>Cloud</a:t>
            </a:r>
            <a:endParaRPr lang="en-IN" sz="2000" dirty="0">
              <a:latin typeface="Arial" panose="020B0604020202020204" pitchFamily="34" charset="0"/>
              <a:cs typeface="Arial" panose="020B0604020202020204" pitchFamily="34" charset="0"/>
            </a:endParaRPr>
          </a:p>
          <a:p>
            <a:pPr>
              <a:lnSpc>
                <a:spcPct val="100000"/>
              </a:lnSpc>
            </a:pPr>
            <a:endParaRPr lang="en-IN" sz="2000" dirty="0">
              <a:latin typeface="Arial" panose="020B0604020202020204" pitchFamily="34" charset="0"/>
              <a:cs typeface="Arial" panose="020B0604020202020204" pitchFamily="34" charset="0"/>
            </a:endParaRPr>
          </a:p>
          <a:p>
            <a:pPr>
              <a:lnSpc>
                <a:spcPct val="100000"/>
              </a:lnSpc>
              <a:spcBef>
                <a:spcPts val="615"/>
              </a:spcBef>
            </a:pPr>
            <a:endParaRPr lang="en-IN" sz="2000" dirty="0">
              <a:latin typeface="Arial" panose="020B0604020202020204" pitchFamily="34" charset="0"/>
              <a:cs typeface="Arial" panose="020B0604020202020204" pitchFamily="34" charset="0"/>
            </a:endParaRPr>
          </a:p>
          <a:p>
            <a:pPr marL="614680">
              <a:lnSpc>
                <a:spcPct val="100000"/>
              </a:lnSpc>
            </a:pPr>
            <a:r>
              <a:rPr lang="en-IN" sz="2000" spc="-50" dirty="0">
                <a:solidFill>
                  <a:srgbClr val="2B3541"/>
                </a:solidFill>
                <a:latin typeface="Arial" panose="020B0604020202020204" pitchFamily="34" charset="0"/>
                <a:cs typeface="Arial" panose="020B0604020202020204" pitchFamily="34" charset="0"/>
              </a:rPr>
              <a:t>·</a:t>
            </a:r>
            <a:endParaRPr lang="en-IN" sz="2000" dirty="0">
              <a:latin typeface="Arial" panose="020B0604020202020204" pitchFamily="34" charset="0"/>
              <a:cs typeface="Arial" panose="020B0604020202020204" pitchFamily="34" charset="0"/>
            </a:endParaRPr>
          </a:p>
          <a:p>
            <a:pPr>
              <a:lnSpc>
                <a:spcPct val="100000"/>
              </a:lnSpc>
            </a:pPr>
            <a:endParaRPr lang="en-IN" sz="2000" dirty="0">
              <a:latin typeface="Arial" panose="020B0604020202020204" pitchFamily="34" charset="0"/>
              <a:cs typeface="Arial" panose="020B0604020202020204" pitchFamily="34" charset="0"/>
            </a:endParaRPr>
          </a:p>
          <a:p>
            <a:pPr>
              <a:lnSpc>
                <a:spcPct val="100000"/>
              </a:lnSpc>
              <a:spcBef>
                <a:spcPts val="930"/>
              </a:spcBef>
            </a:pPr>
            <a:endParaRPr lang="en-IN" sz="2000" dirty="0">
              <a:latin typeface="Arial" panose="020B0604020202020204" pitchFamily="34" charset="0"/>
              <a:cs typeface="Arial" panose="020B0604020202020204" pitchFamily="34" charset="0"/>
            </a:endParaRPr>
          </a:p>
          <a:p>
            <a:pPr marL="614680">
              <a:lnSpc>
                <a:spcPct val="100000"/>
              </a:lnSpc>
            </a:pPr>
            <a:r>
              <a:rPr lang="en-IN" sz="2000" spc="-50" dirty="0">
                <a:solidFill>
                  <a:srgbClr val="2B3541"/>
                </a:solidFill>
                <a:latin typeface="Arial" panose="020B0604020202020204" pitchFamily="34" charset="0"/>
                <a:cs typeface="Arial" panose="020B0604020202020204" pitchFamily="34" charset="0"/>
              </a:rPr>
              <a:t>·</a:t>
            </a:r>
            <a:endParaRPr lang="en-IN"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6151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2C5C7-5863-FA2F-F9A8-561DCA4C9133}"/>
              </a:ext>
            </a:extLst>
          </p:cNvPr>
          <p:cNvSpPr>
            <a:spLocks noGrp="1"/>
          </p:cNvSpPr>
          <p:nvPr>
            <p:ph type="title"/>
          </p:nvPr>
        </p:nvSpPr>
        <p:spPr/>
        <p:txBody>
          <a:bodyPr>
            <a:normAutofit/>
          </a:bodyPr>
          <a:lstStyle/>
          <a:p>
            <a:r>
              <a:rPr lang="en-IN" sz="2800" b="1" dirty="0">
                <a:solidFill>
                  <a:srgbClr val="FF0000"/>
                </a:solidFill>
                <a:latin typeface="Arial" panose="020B0604020202020204" pitchFamily="34" charset="0"/>
                <a:cs typeface="Arial" panose="020B0604020202020204" pitchFamily="34" charset="0"/>
              </a:rPr>
              <a:t>Future Scope</a:t>
            </a:r>
          </a:p>
        </p:txBody>
      </p:sp>
      <p:sp>
        <p:nvSpPr>
          <p:cNvPr id="3" name="Content Placeholder 2">
            <a:extLst>
              <a:ext uri="{FF2B5EF4-FFF2-40B4-BE49-F238E27FC236}">
                <a16:creationId xmlns:a16="http://schemas.microsoft.com/office/drawing/2014/main" id="{194280B1-C7CD-525A-7E43-1BB6153469FB}"/>
              </a:ext>
            </a:extLst>
          </p:cNvPr>
          <p:cNvSpPr>
            <a:spLocks noGrp="1"/>
          </p:cNvSpPr>
          <p:nvPr>
            <p:ph idx="1"/>
          </p:nvPr>
        </p:nvSpPr>
        <p:spPr>
          <a:xfrm>
            <a:off x="685800" y="1548448"/>
            <a:ext cx="10515600" cy="4351338"/>
          </a:xfrm>
        </p:spPr>
        <p:txBody>
          <a:bodyPr>
            <a:normAutofit lnSpcReduction="10000"/>
          </a:bodyPr>
          <a:lstStyle/>
          <a:p>
            <a:pPr algn="just">
              <a:lnSpc>
                <a:spcPct val="100000"/>
              </a:lnSpc>
            </a:pPr>
            <a:r>
              <a:rPr lang="en-IN" sz="2000" dirty="0">
                <a:latin typeface="Arial" panose="020B0604020202020204" pitchFamily="34" charset="0"/>
                <a:cs typeface="Arial" panose="020B0604020202020204" pitchFamily="34" charset="0"/>
              </a:rPr>
              <a:t>The system can be integrated with Industrial Internet of Things (</a:t>
            </a:r>
            <a:r>
              <a:rPr lang="en-IN" sz="2000" dirty="0" err="1">
                <a:latin typeface="Arial" panose="020B0604020202020204" pitchFamily="34" charset="0"/>
                <a:cs typeface="Arial" panose="020B0604020202020204" pitchFamily="34" charset="0"/>
              </a:rPr>
              <a:t>IIoT</a:t>
            </a:r>
            <a:r>
              <a:rPr lang="en-IN" sz="2000" dirty="0">
                <a:latin typeface="Arial" panose="020B0604020202020204" pitchFamily="34" charset="0"/>
                <a:cs typeface="Arial" panose="020B0604020202020204" pitchFamily="34" charset="0"/>
              </a:rPr>
              <a:t>) sensors to collect real-time machine data and continuously monitor equipment health. </a:t>
            </a:r>
          </a:p>
          <a:p>
            <a:pPr algn="just">
              <a:lnSpc>
                <a:spcPct val="100000"/>
              </a:lnSpc>
            </a:pPr>
            <a:r>
              <a:rPr lang="en-IN" sz="2000" dirty="0">
                <a:latin typeface="Arial" panose="020B0604020202020204" pitchFamily="34" charset="0"/>
                <a:cs typeface="Arial" panose="020B0604020202020204" pitchFamily="34" charset="0"/>
              </a:rPr>
              <a:t>Additional machine learning models and deep learning techniques can be incorporated in IBM watsonx.ai to further improve prediction accuracy and identify complex failure patterns. </a:t>
            </a:r>
          </a:p>
          <a:p>
            <a:pPr algn="just">
              <a:lnSpc>
                <a:spcPct val="100000"/>
              </a:lnSpc>
            </a:pPr>
            <a:r>
              <a:rPr lang="en-IN" sz="2000" dirty="0">
                <a:latin typeface="Arial" panose="020B0604020202020204" pitchFamily="34" charset="0"/>
                <a:cs typeface="Arial" panose="020B0604020202020204" pitchFamily="34" charset="0"/>
              </a:rPr>
              <a:t>Real-time alert notifications can be implemented to automatically inform maintenance teams before critical machine failures occur, reducing downtime and maintenance costs. </a:t>
            </a:r>
          </a:p>
          <a:p>
            <a:pPr algn="just">
              <a:lnSpc>
                <a:spcPct val="100000"/>
              </a:lnSpc>
            </a:pPr>
            <a:r>
              <a:rPr lang="en-IN" sz="2000" dirty="0">
                <a:latin typeface="Arial" panose="020B0604020202020204" pitchFamily="34" charset="0"/>
                <a:cs typeface="Arial" panose="020B0604020202020204" pitchFamily="34" charset="0"/>
              </a:rPr>
              <a:t>The solution can be integrated with Enterprise Resource Planning (ERP) and Computerized Maintenance Management Systems (CMMS) to automate maintenance scheduling and spare parts management. </a:t>
            </a:r>
          </a:p>
          <a:p>
            <a:pPr algn="just">
              <a:lnSpc>
                <a:spcPct val="100000"/>
              </a:lnSpc>
            </a:pPr>
            <a:r>
              <a:rPr lang="en-IN" sz="2000" dirty="0">
                <a:latin typeface="Arial" panose="020B0604020202020204" pitchFamily="34" charset="0"/>
                <a:cs typeface="Arial" panose="020B0604020202020204" pitchFamily="34" charset="0"/>
              </a:rPr>
              <a:t>The platform can be scaled across multiple manufacturing plants and industries, enabling centralized monitoring, predictive analytics, and data-driven maintenance decisions for large-scale industrial operations.</a:t>
            </a:r>
          </a:p>
        </p:txBody>
      </p:sp>
    </p:spTree>
    <p:extLst>
      <p:ext uri="{BB962C8B-B14F-4D97-AF65-F5344CB8AC3E}">
        <p14:creationId xmlns:p14="http://schemas.microsoft.com/office/powerpoint/2010/main" val="4142668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Content Placeholder 21">
            <a:extLst>
              <a:ext uri="{FF2B5EF4-FFF2-40B4-BE49-F238E27FC236}">
                <a16:creationId xmlns:a16="http://schemas.microsoft.com/office/drawing/2014/main" id="{F156AB7D-2ABD-AACA-2C22-2C4FB34EA7C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1719" t="15700" r="21538" b="1942"/>
          <a:stretch>
            <a:fillRect/>
          </a:stretch>
        </p:blipFill>
        <p:spPr>
          <a:xfrm>
            <a:off x="894735" y="1174037"/>
            <a:ext cx="10363200" cy="5116232"/>
          </a:xfrm>
          <a:prstGeom prst="rect">
            <a:avLst/>
          </a:prstGeom>
        </p:spPr>
      </p:pic>
      <p:sp>
        <p:nvSpPr>
          <p:cNvPr id="24" name="TextBox 23">
            <a:extLst>
              <a:ext uri="{FF2B5EF4-FFF2-40B4-BE49-F238E27FC236}">
                <a16:creationId xmlns:a16="http://schemas.microsoft.com/office/drawing/2014/main" id="{359F88DF-EF89-6FB2-26AD-FA2FDBE465D1}"/>
              </a:ext>
            </a:extLst>
          </p:cNvPr>
          <p:cNvSpPr txBox="1"/>
          <p:nvPr/>
        </p:nvSpPr>
        <p:spPr>
          <a:xfrm>
            <a:off x="894735" y="486529"/>
            <a:ext cx="6096000" cy="400110"/>
          </a:xfrm>
          <a:prstGeom prst="rect">
            <a:avLst/>
          </a:prstGeom>
          <a:noFill/>
        </p:spPr>
        <p:txBody>
          <a:bodyPr wrap="square">
            <a:spAutoFit/>
          </a:bodyPr>
          <a:lstStyle/>
          <a:p>
            <a:r>
              <a:rPr lang="en-US" sz="2000" b="1" dirty="0">
                <a:latin typeface="Arial"/>
                <a:cs typeface="Arial"/>
              </a:rPr>
              <a:t>Certificates</a:t>
            </a:r>
            <a:r>
              <a:rPr lang="en-US" sz="2000" b="1" spc="-40" dirty="0">
                <a:latin typeface="Arial"/>
                <a:cs typeface="Arial"/>
              </a:rPr>
              <a:t> </a:t>
            </a:r>
            <a:r>
              <a:rPr lang="en-US" sz="2000" b="1" spc="-10" dirty="0">
                <a:latin typeface="Arial"/>
                <a:cs typeface="Arial"/>
              </a:rPr>
              <a:t>Earned: </a:t>
            </a:r>
            <a:r>
              <a:rPr lang="en-US" sz="2000" spc="-10" dirty="0" err="1">
                <a:latin typeface="Arial"/>
                <a:cs typeface="Arial"/>
              </a:rPr>
              <a:t>Credly</a:t>
            </a:r>
            <a:r>
              <a:rPr lang="en-US" sz="2000" spc="-10" dirty="0">
                <a:latin typeface="Arial"/>
                <a:cs typeface="Arial"/>
              </a:rPr>
              <a:t> Certificate </a:t>
            </a:r>
            <a:endParaRPr lang="en-IN" sz="2000" dirty="0"/>
          </a:p>
        </p:txBody>
      </p:sp>
    </p:spTree>
    <p:extLst>
      <p:ext uri="{BB962C8B-B14F-4D97-AF65-F5344CB8AC3E}">
        <p14:creationId xmlns:p14="http://schemas.microsoft.com/office/powerpoint/2010/main" val="2201061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6F2CD-3BC0-6D9E-257D-54812666F9A9}"/>
              </a:ext>
            </a:extLst>
          </p:cNvPr>
          <p:cNvSpPr>
            <a:spLocks noGrp="1"/>
          </p:cNvSpPr>
          <p:nvPr>
            <p:ph type="title"/>
          </p:nvPr>
        </p:nvSpPr>
        <p:spPr>
          <a:xfrm>
            <a:off x="641555" y="-165817"/>
            <a:ext cx="10515600" cy="1325563"/>
          </a:xfrm>
        </p:spPr>
        <p:txBody>
          <a:bodyPr>
            <a:normAutofit/>
          </a:bodyPr>
          <a:lstStyle/>
          <a:p>
            <a:pPr marL="139065">
              <a:lnSpc>
                <a:spcPct val="150000"/>
              </a:lnSpc>
              <a:spcBef>
                <a:spcPts val="1110"/>
              </a:spcBef>
            </a:pPr>
            <a:r>
              <a:rPr lang="en-US" sz="2200" b="1" dirty="0">
                <a:latin typeface="Arial"/>
                <a:cs typeface="Arial"/>
              </a:rPr>
              <a:t>Certificates</a:t>
            </a:r>
            <a:r>
              <a:rPr lang="en-US" sz="2200" b="1" spc="-40" dirty="0">
                <a:latin typeface="Arial"/>
                <a:cs typeface="Arial"/>
              </a:rPr>
              <a:t> </a:t>
            </a:r>
            <a:r>
              <a:rPr lang="en-US" sz="2200" b="1" spc="-10" dirty="0">
                <a:latin typeface="Arial"/>
                <a:cs typeface="Arial"/>
              </a:rPr>
              <a:t>Earned:</a:t>
            </a:r>
            <a:r>
              <a:rPr lang="en-US" sz="6000" b="1" spc="-10" dirty="0">
                <a:latin typeface="Arial"/>
                <a:cs typeface="Arial"/>
              </a:rPr>
              <a:t> </a:t>
            </a:r>
            <a:r>
              <a:rPr lang="en-US" sz="2000" dirty="0">
                <a:latin typeface="Arial"/>
                <a:cs typeface="Arial"/>
              </a:rPr>
              <a:t>IBM</a:t>
            </a:r>
            <a:r>
              <a:rPr lang="en-US" sz="2000" spc="40" dirty="0">
                <a:latin typeface="Arial"/>
                <a:cs typeface="Arial"/>
              </a:rPr>
              <a:t> </a:t>
            </a:r>
            <a:r>
              <a:rPr lang="en-US" sz="2000" dirty="0">
                <a:latin typeface="Arial"/>
                <a:cs typeface="Arial"/>
              </a:rPr>
              <a:t>BOB</a:t>
            </a:r>
            <a:r>
              <a:rPr lang="en-US" sz="2000" spc="180" dirty="0">
                <a:latin typeface="Arial"/>
                <a:cs typeface="Arial"/>
              </a:rPr>
              <a:t> </a:t>
            </a:r>
            <a:r>
              <a:rPr lang="en-US" sz="2000" spc="-10" dirty="0">
                <a:latin typeface="Arial"/>
                <a:cs typeface="Arial"/>
              </a:rPr>
              <a:t>Certificate</a:t>
            </a:r>
            <a:endParaRPr lang="en-IN" sz="2000" dirty="0"/>
          </a:p>
        </p:txBody>
      </p:sp>
      <p:pic>
        <p:nvPicPr>
          <p:cNvPr id="5" name="Content Placeholder 4">
            <a:extLst>
              <a:ext uri="{FF2B5EF4-FFF2-40B4-BE49-F238E27FC236}">
                <a16:creationId xmlns:a16="http://schemas.microsoft.com/office/drawing/2014/main" id="{E0339D1B-6591-4E7E-ED3A-EEFF61B3379A}"/>
              </a:ext>
            </a:extLst>
          </p:cNvPr>
          <p:cNvPicPr>
            <a:picLocks noGrp="1" noChangeAspect="1"/>
          </p:cNvPicPr>
          <p:nvPr>
            <p:ph idx="1"/>
          </p:nvPr>
        </p:nvPicPr>
        <p:blipFill>
          <a:blip r:embed="rId2"/>
          <a:stretch>
            <a:fillRect/>
          </a:stretch>
        </p:blipFill>
        <p:spPr>
          <a:xfrm>
            <a:off x="950041" y="1268361"/>
            <a:ext cx="10207113" cy="4909882"/>
          </a:xfrm>
          <a:prstGeom prst="rect">
            <a:avLst/>
          </a:prstGeom>
        </p:spPr>
      </p:pic>
    </p:spTree>
    <p:extLst>
      <p:ext uri="{BB962C8B-B14F-4D97-AF65-F5344CB8AC3E}">
        <p14:creationId xmlns:p14="http://schemas.microsoft.com/office/powerpoint/2010/main" val="584575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2B2F4-BCB8-1FE5-F6B2-37EEA3746DD8}"/>
              </a:ext>
            </a:extLst>
          </p:cNvPr>
          <p:cNvSpPr>
            <a:spLocks noGrp="1"/>
          </p:cNvSpPr>
          <p:nvPr>
            <p:ph type="title"/>
          </p:nvPr>
        </p:nvSpPr>
        <p:spPr>
          <a:xfrm>
            <a:off x="0" y="2577383"/>
            <a:ext cx="12192000" cy="1325563"/>
          </a:xfrm>
        </p:spPr>
        <p:txBody>
          <a:bodyPr/>
          <a:lstStyle/>
          <a:p>
            <a:pPr algn="ctr"/>
            <a:r>
              <a:rPr lang="en-US" dirty="0">
                <a:solidFill>
                  <a:srgbClr val="FF0000"/>
                </a:solidFill>
                <a:latin typeface="Arial" panose="020B0604020202020204" pitchFamily="34" charset="0"/>
                <a:cs typeface="Arial" panose="020B0604020202020204" pitchFamily="34" charset="0"/>
              </a:rPr>
              <a:t>THANK YOU</a:t>
            </a:r>
            <a:endParaRPr lang="en-IN"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58048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TotalTime>
  <Words>966</Words>
  <Application>Microsoft Office PowerPoint</Application>
  <PresentationFormat>Widescreen</PresentationFormat>
  <Paragraphs>55</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Theme</vt:lpstr>
      <vt:lpstr>PowerPoint Presentation</vt:lpstr>
      <vt:lpstr>PowerPoint Presentation</vt:lpstr>
      <vt:lpstr>Problem Statement – Predictive Maintenance of Industrial Machinery Using Machine Learning</vt:lpstr>
      <vt:lpstr>Proposed Solution – (IBM watsonx.ai Studio – AutoAI)</vt:lpstr>
      <vt:lpstr>Technology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Novelty and Uniqueness</vt:lpstr>
      <vt:lpstr>Git Hub Link </vt:lpstr>
      <vt:lpstr>Future Scope</vt:lpstr>
      <vt:lpstr>PowerPoint Presentation</vt:lpstr>
      <vt:lpstr>Certificates Earned: IBM BOB Certificate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nikitha gunda</dc:creator>
  <cp:lastModifiedBy>nikitha gunda</cp:lastModifiedBy>
  <cp:revision>10</cp:revision>
  <dcterms:created xsi:type="dcterms:W3CDTF">2026-07-08T16:24:50Z</dcterms:created>
  <dcterms:modified xsi:type="dcterms:W3CDTF">2026-07-10T07:37:29Z</dcterms:modified>
</cp:coreProperties>
</file>